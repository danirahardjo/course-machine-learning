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5"/>
  </p:notesMasterIdLst>
  <p:sldIdLst>
    <p:sldId id="256" r:id="rId2"/>
    <p:sldId id="258" r:id="rId3"/>
    <p:sldId id="281" r:id="rId4"/>
    <p:sldId id="259" r:id="rId5"/>
    <p:sldId id="260" r:id="rId6"/>
    <p:sldId id="261" r:id="rId7"/>
    <p:sldId id="272" r:id="rId8"/>
    <p:sldId id="273" r:id="rId9"/>
    <p:sldId id="274" r:id="rId10"/>
    <p:sldId id="275" r:id="rId11"/>
    <p:sldId id="276" r:id="rId12"/>
    <p:sldId id="277" r:id="rId13"/>
    <p:sldId id="278" r:id="rId14"/>
    <p:sldId id="279" r:id="rId15"/>
    <p:sldId id="280" r:id="rId16"/>
    <p:sldId id="262" r:id="rId17"/>
    <p:sldId id="263" r:id="rId18"/>
    <p:sldId id="264" r:id="rId19"/>
    <p:sldId id="282" r:id="rId20"/>
    <p:sldId id="284" r:id="rId21"/>
    <p:sldId id="283" r:id="rId22"/>
    <p:sldId id="268" r:id="rId23"/>
    <p:sldId id="271" r:id="rId24"/>
  </p:sldIdLst>
  <p:sldSz cx="18288000" cy="10287000"/>
  <p:notesSz cx="6858000" cy="9144000"/>
  <p:embeddedFontLs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Montserrat Bold" panose="00000800000000000000" pitchFamily="2" charset="0"/>
      <p:regular r:id="rId34"/>
      <p:bold r:id="rId35"/>
    </p:embeddedFont>
    <p:embeddedFont>
      <p:font typeface="Montserrat Classic" panose="020B0604020202020204" charset="0"/>
      <p:regular r:id="rId36"/>
    </p:embeddedFont>
    <p:embeddedFont>
      <p:font typeface="Montserrat Classic Bold" panose="020B060402020202020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3" d="100"/>
          <a:sy n="53" d="100"/>
        </p:scale>
        <p:origin x="730" y="29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D77BD-D993-419D-A1D1-99AB68931BD3}" type="datetimeFigureOut">
              <a:rPr lang="en-US" smtClean="0"/>
              <a:t>3/7/2025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C3C9F8-1F61-4B6E-AA57-89020D4E1A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8512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3C9F8-1F61-4B6E-AA57-89020D4E1AA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0653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3C9F8-1F61-4B6E-AA57-89020D4E1AA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7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C3C9F8-1F61-4B6E-AA57-89020D4E1AA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39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drive/folders/1tOUKAgKpE897iqKLo2b8yGmL2W-BdNj8" TargetMode="Externa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3552010" y="5901681"/>
            <a:ext cx="3707290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spc="-36" dirty="0">
                <a:solidFill>
                  <a:srgbClr val="000000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Dani Rahardjo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4449281" y="6672469"/>
            <a:ext cx="2821489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2100" spc="-21" dirty="0">
                <a:solidFill>
                  <a:srgbClr val="545454"/>
                </a:solidFill>
                <a:latin typeface="Montserrat Classic"/>
                <a:ea typeface="Montserrat Classic"/>
                <a:cs typeface="Montserrat Classic"/>
                <a:sym typeface="Montserrat Classic"/>
              </a:rPr>
              <a:t>03 March 2025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2270437" cy="10287000"/>
            <a:chOff x="0" y="0"/>
            <a:chExt cx="16360583" cy="1371600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 l="20529"/>
            <a:stretch>
              <a:fillRect/>
            </a:stretch>
          </p:blipFill>
          <p:spPr>
            <a:xfrm>
              <a:off x="0" y="0"/>
              <a:ext cx="16360583" cy="13716000"/>
            </a:xfrm>
            <a:prstGeom prst="rect">
              <a:avLst/>
            </a:prstGeom>
          </p:spPr>
        </p:pic>
      </p:grpSp>
      <p:sp>
        <p:nvSpPr>
          <p:cNvPr id="6" name="Freeform 6"/>
          <p:cNvSpPr/>
          <p:nvPr/>
        </p:nvSpPr>
        <p:spPr>
          <a:xfrm>
            <a:off x="788266" y="6969236"/>
            <a:ext cx="2766460" cy="2752627"/>
          </a:xfrm>
          <a:custGeom>
            <a:avLst/>
            <a:gdLst/>
            <a:ahLst/>
            <a:cxnLst/>
            <a:rect l="l" t="t" r="r" b="b"/>
            <a:pathLst>
              <a:path w="2766460" h="2752627">
                <a:moveTo>
                  <a:pt x="0" y="0"/>
                </a:moveTo>
                <a:lnTo>
                  <a:pt x="2766460" y="0"/>
                </a:lnTo>
                <a:lnTo>
                  <a:pt x="2766460" y="2752628"/>
                </a:lnTo>
                <a:lnTo>
                  <a:pt x="0" y="27526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9184337" y="0"/>
            <a:ext cx="3086100" cy="10287000"/>
            <a:chOff x="0" y="0"/>
            <a:chExt cx="812800" cy="2709333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709333"/>
            </a:xfrm>
            <a:custGeom>
              <a:avLst/>
              <a:gdLst/>
              <a:ahLst/>
              <a:cxnLst/>
              <a:rect l="l" t="t" r="r" b="b"/>
              <a:pathLst>
                <a:path w="812800" h="2709333">
                  <a:moveTo>
                    <a:pt x="0" y="0"/>
                  </a:moveTo>
                  <a:lnTo>
                    <a:pt x="812800" y="0"/>
                  </a:lnTo>
                  <a:lnTo>
                    <a:pt x="812800" y="2709333"/>
                  </a:lnTo>
                  <a:lnTo>
                    <a:pt x="0" y="2709333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9" name="TextBox 9"/>
            <p:cNvSpPr txBox="1"/>
            <p:nvPr/>
          </p:nvSpPr>
          <p:spPr>
            <a:xfrm>
              <a:off x="0" y="-38100"/>
              <a:ext cx="812800" cy="27474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540903" y="-108694"/>
            <a:ext cx="6689197" cy="10395694"/>
            <a:chOff x="0" y="0"/>
            <a:chExt cx="1761764" cy="2737961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761764" cy="2737961"/>
            </a:xfrm>
            <a:custGeom>
              <a:avLst/>
              <a:gdLst/>
              <a:ahLst/>
              <a:cxnLst/>
              <a:rect l="l" t="t" r="r" b="b"/>
              <a:pathLst>
                <a:path w="1761764" h="2737961">
                  <a:moveTo>
                    <a:pt x="0" y="0"/>
                  </a:moveTo>
                  <a:lnTo>
                    <a:pt x="1761764" y="0"/>
                  </a:lnTo>
                  <a:lnTo>
                    <a:pt x="1761764" y="2737961"/>
                  </a:lnTo>
                  <a:lnTo>
                    <a:pt x="0" y="2737961"/>
                  </a:lnTo>
                  <a:close/>
                </a:path>
              </a:pathLst>
            </a:custGeom>
            <a:gradFill rotWithShape="1">
              <a:gsLst>
                <a:gs pos="0">
                  <a:srgbClr val="FFFFFF">
                    <a:alpha val="0"/>
                  </a:srgbClr>
                </a:gs>
                <a:gs pos="100000">
                  <a:srgbClr val="FFFFFF">
                    <a:alpha val="100000"/>
                  </a:srgbClr>
                </a:gs>
              </a:gsLst>
              <a:lin ang="0"/>
            </a:gradFill>
          </p:spPr>
        </p:sp>
        <p:sp>
          <p:nvSpPr>
            <p:cNvPr id="12" name="TextBox 12"/>
            <p:cNvSpPr txBox="1"/>
            <p:nvPr/>
          </p:nvSpPr>
          <p:spPr>
            <a:xfrm>
              <a:off x="0" y="-38100"/>
              <a:ext cx="1761764" cy="277606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940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6987350" y="3079709"/>
            <a:ext cx="10271950" cy="11285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800"/>
              </a:lnSpc>
            </a:pPr>
            <a:r>
              <a:rPr lang="en-US" sz="8000" b="1" spc="-80" dirty="0">
                <a:solidFill>
                  <a:srgbClr val="E74D4E"/>
                </a:solidFill>
                <a:latin typeface="Montserrat Classic Bold"/>
                <a:ea typeface="Montserrat Classic Bold"/>
                <a:cs typeface="Montserrat Classic Bold"/>
                <a:sym typeface="Montserrat Classic Bold"/>
              </a:rPr>
              <a:t>Fraud Detection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0950" y="-102870"/>
            <a:ext cx="5246370" cy="10389870"/>
            <a:chOff x="0" y="0"/>
            <a:chExt cx="812800" cy="1609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609663"/>
            </a:xfrm>
            <a:custGeom>
              <a:avLst/>
              <a:gdLst/>
              <a:ahLst/>
              <a:cxnLst/>
              <a:rect l="l" t="t" r="r" b="b"/>
              <a:pathLst>
                <a:path w="812800" h="1609663">
                  <a:moveTo>
                    <a:pt x="0" y="0"/>
                  </a:moveTo>
                  <a:lnTo>
                    <a:pt x="812800" y="0"/>
                  </a:lnTo>
                  <a:lnTo>
                    <a:pt x="812800" y="1609663"/>
                  </a:lnTo>
                  <a:lnTo>
                    <a:pt x="0" y="1609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6" name="TextBox 6"/>
          <p:cNvSpPr txBox="1"/>
          <p:nvPr/>
        </p:nvSpPr>
        <p:spPr>
          <a:xfrm>
            <a:off x="1028700" y="1085850"/>
            <a:ext cx="6374274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List of Contents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B945B-AFBA-4A5E-AF5E-6281FA71597D}"/>
              </a:ext>
            </a:extLst>
          </p:cNvPr>
          <p:cNvSpPr txBox="1"/>
          <p:nvPr/>
        </p:nvSpPr>
        <p:spPr>
          <a:xfrm>
            <a:off x="1028700" y="2736422"/>
            <a:ext cx="6736139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Background &amp; Problem Statement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Objectives &amp;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Data Collection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Data Preprocessing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EDA &amp; Feature Engineering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Feature Selection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Correlation Matrix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latin typeface="Montserrat" panose="00000500000000000000" pitchFamily="2" charset="0"/>
              </a:rPr>
              <a:t>Modelling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CAAF162-3BEB-42AD-BCC4-561305200D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96088" y="2109968"/>
            <a:ext cx="4435949" cy="488467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150950" y="-102870"/>
            <a:ext cx="5246370" cy="10389870"/>
            <a:chOff x="0" y="0"/>
            <a:chExt cx="812800" cy="160966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609663"/>
            </a:xfrm>
            <a:custGeom>
              <a:avLst/>
              <a:gdLst/>
              <a:ahLst/>
              <a:cxnLst/>
              <a:rect l="l" t="t" r="r" b="b"/>
              <a:pathLst>
                <a:path w="812800" h="1609663">
                  <a:moveTo>
                    <a:pt x="0" y="0"/>
                  </a:moveTo>
                  <a:lnTo>
                    <a:pt x="812800" y="0"/>
                  </a:lnTo>
                  <a:lnTo>
                    <a:pt x="812800" y="1609663"/>
                  </a:lnTo>
                  <a:lnTo>
                    <a:pt x="0" y="160966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2700">
              <a:solidFill>
                <a:srgbClr val="000000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13787835" y="2736422"/>
            <a:ext cx="3972601" cy="4114800"/>
          </a:xfrm>
          <a:custGeom>
            <a:avLst/>
            <a:gdLst/>
            <a:ahLst/>
            <a:cxnLst/>
            <a:rect l="l" t="t" r="r" b="b"/>
            <a:pathLst>
              <a:path w="3972601" h="4114800">
                <a:moveTo>
                  <a:pt x="0" y="0"/>
                </a:moveTo>
                <a:lnTo>
                  <a:pt x="3972601" y="0"/>
                </a:lnTo>
                <a:lnTo>
                  <a:pt x="3972601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2691972"/>
            <a:ext cx="10516188" cy="24870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Background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With the increase in digital transactions in recent years, such as e-commerce, online banking, digital payments and fintech, this has opened up new opportunities for fraud, one of which is illegal credit card transaction activity. According to a report by the Association of Certified Fraud Examiners (ACFE), it is known that losses reach trillions of dollars per year, with methods that are increasingly sophisticated and difficult to detect.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1085850"/>
            <a:ext cx="6374274" cy="1337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Background &amp; 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11767" y="6134100"/>
            <a:ext cx="10516188" cy="212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Problem Statement:</a:t>
            </a:r>
            <a:r>
              <a:rPr lang="en-US" sz="2000" u="sng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increase in fraudulent credit card transactions in the digital era requires the development of a strong and efficient fraud detection system. This project aims to develop a machine learning model to detect credit card fraud. The model will be trained on a historical credit card transaction dataset and evaluated on an unseen transaction dataset.</a:t>
            </a:r>
          </a:p>
        </p:txBody>
      </p:sp>
    </p:spTree>
    <p:extLst>
      <p:ext uri="{BB962C8B-B14F-4D97-AF65-F5344CB8AC3E}">
        <p14:creationId xmlns:p14="http://schemas.microsoft.com/office/powerpoint/2010/main" val="3508449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005521"/>
            <a:ext cx="13650249" cy="105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Objective: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Create and compare machine learning models that predict whether customers will commit fraud. The goal is to identify fraudulent customers and suggest retention strategies.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85850"/>
            <a:ext cx="6274164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Objectives &amp; Scope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06929" y="3733627"/>
            <a:ext cx="13650249" cy="2128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Scope: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project uses a dataset with customer information, and the analysis is focused on applying classification techniques like Logistic Regression, Random Forest and </a:t>
            </a:r>
            <a:r>
              <a:rPr lang="en-US" sz="2000" dirty="0" err="1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XGBoost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dataset can download 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  <a:hlinkClick r:id="rId2"/>
              </a:rPr>
              <a:t>here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1443" y="1756410"/>
            <a:ext cx="16802100" cy="85818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Source:</a:t>
            </a: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</a:p>
          <a:p>
            <a:pPr>
              <a:lnSpc>
                <a:spcPts val="2800"/>
              </a:lnSpc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dataset used, fraudTrain.csv, contains customer details :</a:t>
            </a:r>
          </a:p>
          <a:p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trans_date_trans_time</a:t>
            </a:r>
            <a:r>
              <a:rPr lang="en-US" sz="1700" dirty="0">
                <a:latin typeface="Montserrat" panose="00000500000000000000" pitchFamily="2" charset="0"/>
              </a:rPr>
              <a:t>: Waktu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. Dapat </a:t>
            </a:r>
            <a:r>
              <a:rPr lang="en-US" sz="1700" dirty="0" err="1">
                <a:latin typeface="Montserrat" panose="00000500000000000000" pitchFamily="2" charset="0"/>
              </a:rPr>
              <a:t>digunakan</a:t>
            </a:r>
            <a:r>
              <a:rPr lang="en-US" sz="1700" dirty="0">
                <a:latin typeface="Montserrat" panose="00000500000000000000" pitchFamily="2" charset="0"/>
              </a:rPr>
              <a:t> untuk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pola</a:t>
            </a:r>
            <a:r>
              <a:rPr lang="en-US" sz="1700" dirty="0">
                <a:latin typeface="Montserrat" panose="00000500000000000000" pitchFamily="2" charset="0"/>
              </a:rPr>
              <a:t> waktu (</a:t>
            </a:r>
            <a:r>
              <a:rPr lang="en-US" sz="1700" dirty="0" err="1">
                <a:latin typeface="Montserrat" panose="00000500000000000000" pitchFamily="2" charset="0"/>
              </a:rPr>
              <a:t>misal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yang </a:t>
            </a:r>
            <a:r>
              <a:rPr lang="en-US" sz="1700" dirty="0" err="1">
                <a:latin typeface="Montserrat" panose="00000500000000000000" pitchFamily="2" charset="0"/>
              </a:rPr>
              <a:t>sering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terjadi</a:t>
            </a:r>
            <a:r>
              <a:rPr lang="en-US" sz="1700" dirty="0">
                <a:latin typeface="Montserrat" panose="00000500000000000000" pitchFamily="2" charset="0"/>
              </a:rPr>
              <a:t> pada waktu yang tidak </a:t>
            </a:r>
            <a:r>
              <a:rPr lang="en-US" sz="1700" dirty="0" err="1">
                <a:latin typeface="Montserrat" panose="00000500000000000000" pitchFamily="2" charset="0"/>
              </a:rPr>
              <a:t>wajar</a:t>
            </a:r>
            <a:r>
              <a:rPr lang="en-US" sz="1700" dirty="0">
                <a:latin typeface="Montserrat" panose="00000500000000000000" pitchFamily="2" charset="0"/>
              </a:rPr>
              <a:t> bisa </a:t>
            </a:r>
            <a:r>
              <a:rPr lang="en-US" sz="1700" dirty="0" err="1">
                <a:latin typeface="Montserrat" panose="00000500000000000000" pitchFamily="2" charset="0"/>
              </a:rPr>
              <a:t>dicurigai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sebagai</a:t>
            </a:r>
            <a:r>
              <a:rPr lang="en-US" sz="1700" dirty="0">
                <a:latin typeface="Montserrat" panose="00000500000000000000" pitchFamily="2" charset="0"/>
              </a:rPr>
              <a:t> fraud).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cc_num</a:t>
            </a:r>
            <a:r>
              <a:rPr lang="en-US" sz="1700" dirty="0">
                <a:latin typeface="Montserrat" panose="00000500000000000000" pitchFamily="2" charset="0"/>
              </a:rPr>
              <a:t>: </a:t>
            </a:r>
            <a:r>
              <a:rPr lang="en-US" sz="1700" dirty="0" err="1">
                <a:latin typeface="Montserrat" panose="00000500000000000000" pitchFamily="2" charset="0"/>
              </a:rPr>
              <a:t>Nomor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kredit</a:t>
            </a:r>
            <a:r>
              <a:rPr lang="en-US" sz="1700" dirty="0">
                <a:latin typeface="Montserrat" panose="00000500000000000000" pitchFamily="2" charset="0"/>
              </a:rPr>
              <a:t>. </a:t>
            </a:r>
            <a:r>
              <a:rPr lang="en-US" sz="1700" dirty="0" err="1">
                <a:latin typeface="Montserrat" panose="00000500000000000000" pitchFamily="2" charset="0"/>
              </a:rPr>
              <a:t>Informasi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penting</a:t>
            </a:r>
            <a:r>
              <a:rPr lang="en-US" sz="1700" dirty="0">
                <a:latin typeface="Montserrat" panose="00000500000000000000" pitchFamily="2" charset="0"/>
              </a:rPr>
              <a:t> terkait </a:t>
            </a:r>
            <a:r>
              <a:rPr lang="en-US" sz="1700" dirty="0" err="1">
                <a:latin typeface="Montserrat" panose="00000500000000000000" pitchFamily="2" charset="0"/>
              </a:rPr>
              <a:t>pengguna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, </a:t>
            </a:r>
            <a:r>
              <a:rPr lang="en-US" sz="1700" dirty="0" err="1">
                <a:latin typeface="Montserrat" panose="00000500000000000000" pitchFamily="2" charset="0"/>
              </a:rPr>
              <a:t>tetapi</a:t>
            </a:r>
            <a:r>
              <a:rPr lang="en-US" sz="1700" dirty="0">
                <a:latin typeface="Montserrat" panose="00000500000000000000" pitchFamily="2" charset="0"/>
              </a:rPr>
              <a:t> tidak </a:t>
            </a:r>
            <a:r>
              <a:rPr lang="en-US" sz="1700" dirty="0" err="1">
                <a:latin typeface="Montserrat" panose="00000500000000000000" pitchFamily="2" charset="0"/>
              </a:rPr>
              <a:t>langsung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fraud </a:t>
            </a:r>
            <a:r>
              <a:rPr lang="en-US" sz="1700" dirty="0" err="1">
                <a:latin typeface="Montserrat" panose="00000500000000000000" pitchFamily="2" charset="0"/>
              </a:rPr>
              <a:t>kecuali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ada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pola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dari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penggunaan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 yang tidak </a:t>
            </a:r>
            <a:r>
              <a:rPr lang="en-US" sz="1700" dirty="0" err="1">
                <a:latin typeface="Montserrat" panose="00000500000000000000" pitchFamily="2" charset="0"/>
              </a:rPr>
              <a:t>biasa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merchant: Nama merchant (</a:t>
            </a:r>
            <a:r>
              <a:rPr lang="en-US" sz="1700" dirty="0" err="1">
                <a:latin typeface="Montserrat" panose="00000500000000000000" pitchFamily="2" charset="0"/>
              </a:rPr>
              <a:t>penjual</a:t>
            </a:r>
            <a:r>
              <a:rPr lang="en-US" sz="1700" dirty="0">
                <a:latin typeface="Montserrat" panose="00000500000000000000" pitchFamily="2" charset="0"/>
              </a:rPr>
              <a:t>). Merchant </a:t>
            </a:r>
            <a:r>
              <a:rPr lang="en-US" sz="1700" dirty="0" err="1">
                <a:latin typeface="Montserrat" panose="00000500000000000000" pitchFamily="2" charset="0"/>
              </a:rPr>
              <a:t>tertentu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mungkin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sering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terlibat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fraud, </a:t>
            </a:r>
            <a:r>
              <a:rPr lang="en-US" sz="1700" dirty="0" err="1">
                <a:latin typeface="Montserrat" panose="00000500000000000000" pitchFamily="2" charset="0"/>
              </a:rPr>
              <a:t>sehingga</a:t>
            </a:r>
            <a:r>
              <a:rPr lang="en-US" sz="1700" dirty="0">
                <a:latin typeface="Montserrat" panose="00000500000000000000" pitchFamily="2" charset="0"/>
              </a:rPr>
              <a:t> bisa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risiko</a:t>
            </a:r>
            <a:r>
              <a:rPr lang="en-US" sz="1700" dirty="0">
                <a:latin typeface="Montserrat" panose="00000500000000000000" pitchFamily="2" charset="0"/>
              </a:rPr>
              <a:t> terkait merchant.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category: </a:t>
            </a:r>
            <a:r>
              <a:rPr lang="en-US" sz="1700" dirty="0" err="1">
                <a:latin typeface="Montserrat" panose="00000500000000000000" pitchFamily="2" charset="0"/>
              </a:rPr>
              <a:t>Kategori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. Fraud </a:t>
            </a:r>
            <a:r>
              <a:rPr lang="en-US" sz="1700" dirty="0" err="1">
                <a:latin typeface="Montserrat" panose="00000500000000000000" pitchFamily="2" charset="0"/>
              </a:rPr>
              <a:t>mungkin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sering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terjadi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kategori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tertentu</a:t>
            </a:r>
            <a:r>
              <a:rPr lang="en-US" sz="1700" dirty="0">
                <a:latin typeface="Montserrat" panose="00000500000000000000" pitchFamily="2" charset="0"/>
              </a:rPr>
              <a:t> seperti </a:t>
            </a:r>
            <a:r>
              <a:rPr lang="en-US" sz="1700" dirty="0" err="1">
                <a:latin typeface="Montserrat" panose="00000500000000000000" pitchFamily="2" charset="0"/>
              </a:rPr>
              <a:t>barang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mewah</a:t>
            </a:r>
            <a:r>
              <a:rPr lang="en-US" sz="1700" dirty="0">
                <a:latin typeface="Montserrat" panose="00000500000000000000" pitchFamily="2" charset="0"/>
              </a:rPr>
              <a:t> atau </a:t>
            </a:r>
            <a:r>
              <a:rPr lang="en-US" sz="1700" dirty="0" err="1">
                <a:latin typeface="Montserrat" panose="00000500000000000000" pitchFamily="2" charset="0"/>
              </a:rPr>
              <a:t>hiburan</a:t>
            </a:r>
            <a:r>
              <a:rPr lang="en-US" sz="1700" dirty="0">
                <a:latin typeface="Montserrat" panose="00000500000000000000" pitchFamily="2" charset="0"/>
              </a:rPr>
              <a:t>, yang </a:t>
            </a:r>
            <a:r>
              <a:rPr lang="en-US" sz="1700" dirty="0" err="1">
                <a:latin typeface="Montserrat" panose="00000500000000000000" pitchFamily="2" charset="0"/>
              </a:rPr>
              <a:t>memiliki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nilai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tinggi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amt: </a:t>
            </a:r>
            <a:r>
              <a:rPr lang="en-US" sz="1700" dirty="0" err="1">
                <a:latin typeface="Montserrat" panose="00000500000000000000" pitchFamily="2" charset="0"/>
              </a:rPr>
              <a:t>Jumlah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uang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. Nilai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yang </a:t>
            </a:r>
            <a:r>
              <a:rPr lang="en-US" sz="1700" dirty="0" err="1">
                <a:latin typeface="Montserrat" panose="00000500000000000000" pitchFamily="2" charset="0"/>
              </a:rPr>
              <a:t>sangat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besar</a:t>
            </a:r>
            <a:r>
              <a:rPr lang="en-US" sz="1700" dirty="0">
                <a:latin typeface="Montserrat" panose="00000500000000000000" pitchFamily="2" charset="0"/>
              </a:rPr>
              <a:t> atau tidak </a:t>
            </a:r>
            <a:r>
              <a:rPr lang="en-US" sz="1700" dirty="0" err="1">
                <a:latin typeface="Montserrat" panose="00000500000000000000" pitchFamily="2" charset="0"/>
              </a:rPr>
              <a:t>sesuai</a:t>
            </a:r>
            <a:r>
              <a:rPr lang="en-US" sz="1700" dirty="0">
                <a:latin typeface="Montserrat" panose="00000500000000000000" pitchFamily="2" charset="0"/>
              </a:rPr>
              <a:t> dengan </a:t>
            </a:r>
            <a:r>
              <a:rPr lang="en-US" sz="1700" dirty="0" err="1">
                <a:latin typeface="Montserrat" panose="00000500000000000000" pitchFamily="2" charset="0"/>
              </a:rPr>
              <a:t>pola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belanja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biasanya</a:t>
            </a:r>
            <a:r>
              <a:rPr lang="en-US" sz="1700" dirty="0">
                <a:latin typeface="Montserrat" panose="00000500000000000000" pitchFamily="2" charset="0"/>
              </a:rPr>
              <a:t> bisa </a:t>
            </a:r>
            <a:r>
              <a:rPr lang="en-US" sz="1700" dirty="0" err="1">
                <a:latin typeface="Montserrat" panose="00000500000000000000" pitchFamily="2" charset="0"/>
              </a:rPr>
              <a:t>menjadi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tanda</a:t>
            </a:r>
            <a:r>
              <a:rPr lang="en-US" sz="1700" dirty="0">
                <a:latin typeface="Montserrat" panose="00000500000000000000" pitchFamily="2" charset="0"/>
              </a:rPr>
              <a:t> fraud.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first: Nama </a:t>
            </a:r>
            <a:r>
              <a:rPr lang="en-US" sz="1700" dirty="0" err="1">
                <a:latin typeface="Montserrat" panose="00000500000000000000" pitchFamily="2" charset="0"/>
              </a:rPr>
              <a:t>depan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Tidak </a:t>
            </a:r>
            <a:r>
              <a:rPr lang="en-US" sz="1700" dirty="0" err="1">
                <a:latin typeface="Montserrat" panose="00000500000000000000" pitchFamily="2" charset="0"/>
              </a:rPr>
              <a:t>terlalu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relevan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fraud </a:t>
            </a:r>
            <a:r>
              <a:rPr lang="en-US" sz="1700" dirty="0" err="1">
                <a:latin typeface="Montserrat" panose="00000500000000000000" pitchFamily="2" charset="0"/>
              </a:rPr>
              <a:t>secara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langsung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last: Nama </a:t>
            </a:r>
            <a:r>
              <a:rPr lang="en-US" sz="1700" dirty="0" err="1">
                <a:latin typeface="Montserrat" panose="00000500000000000000" pitchFamily="2" charset="0"/>
              </a:rPr>
              <a:t>belakang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Sama seperti first, tidak </a:t>
            </a:r>
            <a:r>
              <a:rPr lang="en-US" sz="1700" dirty="0" err="1">
                <a:latin typeface="Montserrat" panose="00000500000000000000" pitchFamily="2" charset="0"/>
              </a:rPr>
              <a:t>relevan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secara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langsung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gender: </a:t>
            </a:r>
            <a:r>
              <a:rPr lang="en-US" sz="1700" dirty="0" err="1">
                <a:latin typeface="Montserrat" panose="00000500000000000000" pitchFamily="2" charset="0"/>
              </a:rPr>
              <a:t>Jenis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kelamin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Bisa </a:t>
            </a:r>
            <a:r>
              <a:rPr lang="en-US" sz="1700" dirty="0" err="1">
                <a:latin typeface="Montserrat" panose="00000500000000000000" pitchFamily="2" charset="0"/>
              </a:rPr>
              <a:t>digunakan</a:t>
            </a:r>
            <a:r>
              <a:rPr lang="en-US" sz="1700" dirty="0">
                <a:latin typeface="Montserrat" panose="00000500000000000000" pitchFamily="2" charset="0"/>
              </a:rPr>
              <a:t> untuk </a:t>
            </a:r>
            <a:r>
              <a:rPr lang="en-US" sz="1700" dirty="0" err="1">
                <a:latin typeface="Montserrat" panose="00000500000000000000" pitchFamily="2" charset="0"/>
              </a:rPr>
              <a:t>melihat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pola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demografis</a:t>
            </a:r>
            <a:r>
              <a:rPr lang="en-US" sz="1700" dirty="0">
                <a:latin typeface="Montserrat" panose="00000500000000000000" pitchFamily="2" charset="0"/>
              </a:rPr>
              <a:t> terkait fraud, </a:t>
            </a:r>
            <a:r>
              <a:rPr lang="en-US" sz="1700" dirty="0" err="1">
                <a:latin typeface="Montserrat" panose="00000500000000000000" pitchFamily="2" charset="0"/>
              </a:rPr>
              <a:t>meskipun</a:t>
            </a:r>
            <a:r>
              <a:rPr lang="en-US" sz="1700" dirty="0">
                <a:latin typeface="Montserrat" panose="00000500000000000000" pitchFamily="2" charset="0"/>
              </a:rPr>
              <a:t> tidak </a:t>
            </a:r>
            <a:r>
              <a:rPr lang="en-US" sz="1700" dirty="0" err="1">
                <a:latin typeface="Montserrat" panose="00000500000000000000" pitchFamily="2" charset="0"/>
              </a:rPr>
              <a:t>secara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langsung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mengindikasikan</a:t>
            </a:r>
            <a:r>
              <a:rPr lang="en-US" sz="1700" dirty="0">
                <a:latin typeface="Montserrat" panose="00000500000000000000" pitchFamily="2" charset="0"/>
              </a:rPr>
              <a:t> fraud.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street: Alamat </a:t>
            </a:r>
            <a:r>
              <a:rPr lang="en-US" sz="1700" dirty="0" err="1">
                <a:latin typeface="Montserrat" panose="00000500000000000000" pitchFamily="2" charset="0"/>
              </a:rPr>
              <a:t>jalan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Dapat </a:t>
            </a:r>
            <a:r>
              <a:rPr lang="en-US" sz="1700" dirty="0" err="1">
                <a:latin typeface="Montserrat" panose="00000500000000000000" pitchFamily="2" charset="0"/>
              </a:rPr>
              <a:t>digunakan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anomali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jika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berbeda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jauh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dari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alamat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city: Kota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Sama seperti street, dapat </a:t>
            </a:r>
            <a:r>
              <a:rPr lang="en-US" sz="1700" dirty="0" err="1">
                <a:latin typeface="Montserrat" panose="00000500000000000000" pitchFamily="2" charset="0"/>
              </a:rPr>
              <a:t>digunakan</a:t>
            </a:r>
            <a:r>
              <a:rPr lang="en-US" sz="1700" dirty="0">
                <a:latin typeface="Montserrat" panose="00000500000000000000" pitchFamily="2" charset="0"/>
              </a:rPr>
              <a:t> untuk </a:t>
            </a:r>
            <a:r>
              <a:rPr lang="en-US" sz="1700" dirty="0" err="1">
                <a:latin typeface="Montserrat" panose="00000500000000000000" pitchFamily="2" charset="0"/>
              </a:rPr>
              <a:t>memeriksa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ketidaksesuaian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antara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 dan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state: Negara bagian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Sama dengan city, bisa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anomali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zip: </a:t>
            </a:r>
            <a:r>
              <a:rPr lang="en-US" sz="1700" dirty="0" err="1">
                <a:latin typeface="Montserrat" panose="00000500000000000000" pitchFamily="2" charset="0"/>
              </a:rPr>
              <a:t>Kode</a:t>
            </a:r>
            <a:r>
              <a:rPr lang="en-US" sz="1700" dirty="0">
                <a:latin typeface="Montserrat" panose="00000500000000000000" pitchFamily="2" charset="0"/>
              </a:rPr>
              <a:t> pos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Sama dengan city dan state, bisa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anomali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geografis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lat</a:t>
            </a:r>
            <a:r>
              <a:rPr lang="en-US" sz="1700" dirty="0">
                <a:latin typeface="Montserrat" panose="00000500000000000000" pitchFamily="2" charset="0"/>
              </a:rPr>
              <a:t>: </a:t>
            </a:r>
            <a:r>
              <a:rPr lang="en-US" sz="1700" dirty="0" err="1">
                <a:latin typeface="Montserrat" panose="00000500000000000000" pitchFamily="2" charset="0"/>
              </a:rPr>
              <a:t>Garis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lintang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geografis</a:t>
            </a:r>
            <a:r>
              <a:rPr lang="en-US" sz="1700" dirty="0">
                <a:latin typeface="Montserrat" panose="00000500000000000000" pitchFamily="2" charset="0"/>
              </a:rPr>
              <a:t> dapat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ketidaksesuaian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jika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dibandingkan</a:t>
            </a:r>
            <a:r>
              <a:rPr lang="en-US" sz="1700" dirty="0">
                <a:latin typeface="Montserrat" panose="00000500000000000000" pitchFamily="2" charset="0"/>
              </a:rPr>
              <a:t> dengan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long: </a:t>
            </a:r>
            <a:r>
              <a:rPr lang="en-US" sz="1700" dirty="0" err="1">
                <a:latin typeface="Montserrat" panose="00000500000000000000" pitchFamily="2" charset="0"/>
              </a:rPr>
              <a:t>Garis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bujur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Sama dengan </a:t>
            </a:r>
            <a:r>
              <a:rPr lang="en-US" sz="1700" dirty="0" err="1">
                <a:latin typeface="Montserrat" panose="00000500000000000000" pitchFamily="2" charset="0"/>
              </a:rPr>
              <a:t>lat</a:t>
            </a:r>
            <a:r>
              <a:rPr lang="en-US" sz="1700" dirty="0">
                <a:latin typeface="Montserrat" panose="00000500000000000000" pitchFamily="2" charset="0"/>
              </a:rPr>
              <a:t>,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city_pop</a:t>
            </a:r>
            <a:r>
              <a:rPr lang="en-US" sz="1700" dirty="0">
                <a:latin typeface="Montserrat" panose="00000500000000000000" pitchFamily="2" charset="0"/>
              </a:rPr>
              <a:t>: </a:t>
            </a:r>
            <a:r>
              <a:rPr lang="en-US" sz="1700" dirty="0" err="1">
                <a:latin typeface="Montserrat" panose="00000500000000000000" pitchFamily="2" charset="0"/>
              </a:rPr>
              <a:t>Populasi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kota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Bisa </a:t>
            </a:r>
            <a:r>
              <a:rPr lang="en-US" sz="1700" dirty="0" err="1">
                <a:latin typeface="Montserrat" panose="00000500000000000000" pitchFamily="2" charset="0"/>
              </a:rPr>
              <a:t>digunakan</a:t>
            </a:r>
            <a:r>
              <a:rPr lang="en-US" sz="1700" dirty="0">
                <a:latin typeface="Montserrat" panose="00000500000000000000" pitchFamily="2" charset="0"/>
              </a:rPr>
              <a:t> untuk </a:t>
            </a:r>
            <a:r>
              <a:rPr lang="en-US" sz="1700" dirty="0" err="1">
                <a:latin typeface="Montserrat" panose="00000500000000000000" pitchFamily="2" charset="0"/>
              </a:rPr>
              <a:t>memahami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risiko</a:t>
            </a:r>
            <a:r>
              <a:rPr lang="en-US" sz="1700" dirty="0">
                <a:latin typeface="Montserrat" panose="00000500000000000000" pitchFamily="2" charset="0"/>
              </a:rPr>
              <a:t> terkait </a:t>
            </a:r>
            <a:r>
              <a:rPr lang="en-US" sz="1700" dirty="0" err="1">
                <a:latin typeface="Montserrat" panose="00000500000000000000" pitchFamily="2" charset="0"/>
              </a:rPr>
              <a:t>daerah</a:t>
            </a:r>
            <a:r>
              <a:rPr lang="en-US" sz="1700" dirty="0">
                <a:latin typeface="Montserrat" panose="00000500000000000000" pitchFamily="2" charset="0"/>
              </a:rPr>
              <a:t>, </a:t>
            </a:r>
            <a:r>
              <a:rPr lang="en-US" sz="1700" dirty="0" err="1">
                <a:latin typeface="Montserrat" panose="00000500000000000000" pitchFamily="2" charset="0"/>
              </a:rPr>
              <a:t>misalnya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daerah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padat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penduduk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mungkin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memiliki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banyak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dan </a:t>
            </a:r>
            <a:r>
              <a:rPr lang="en-US" sz="1700" dirty="0" err="1">
                <a:latin typeface="Montserrat" panose="00000500000000000000" pitchFamily="2" charset="0"/>
              </a:rPr>
              <a:t>risiko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job: </a:t>
            </a:r>
            <a:r>
              <a:rPr lang="en-US" sz="1700" dirty="0" err="1">
                <a:latin typeface="Montserrat" panose="00000500000000000000" pitchFamily="2" charset="0"/>
              </a:rPr>
              <a:t>Pekerjaan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</a:t>
            </a:r>
            <a:r>
              <a:rPr lang="en-US" sz="1700" dirty="0" err="1">
                <a:latin typeface="Montserrat" panose="00000500000000000000" pitchFamily="2" charset="0"/>
              </a:rPr>
              <a:t>Pekerjaan</a:t>
            </a:r>
            <a:r>
              <a:rPr lang="en-US" sz="1700" dirty="0">
                <a:latin typeface="Montserrat" panose="00000500000000000000" pitchFamily="2" charset="0"/>
              </a:rPr>
              <a:t> dengan </a:t>
            </a:r>
            <a:r>
              <a:rPr lang="en-US" sz="1700" dirty="0" err="1">
                <a:latin typeface="Montserrat" panose="00000500000000000000" pitchFamily="2" charset="0"/>
              </a:rPr>
              <a:t>penghasilan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tinggi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mungkin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rentan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terhadap</a:t>
            </a:r>
            <a:r>
              <a:rPr lang="en-US" sz="1700" dirty="0">
                <a:latin typeface="Montserrat" panose="00000500000000000000" pitchFamily="2" charset="0"/>
              </a:rPr>
              <a:t> fraud </a:t>
            </a:r>
            <a:r>
              <a:rPr lang="en-US" sz="1700" dirty="0" err="1">
                <a:latin typeface="Montserrat" panose="00000500000000000000" pitchFamily="2" charset="0"/>
              </a:rPr>
              <a:t>karena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sering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terlibat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besar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>
                <a:latin typeface="Montserrat" panose="00000500000000000000" pitchFamily="2" charset="0"/>
              </a:rPr>
              <a:t>dob: </a:t>
            </a:r>
            <a:r>
              <a:rPr lang="en-US" sz="1700" dirty="0" err="1">
                <a:latin typeface="Montserrat" panose="00000500000000000000" pitchFamily="2" charset="0"/>
              </a:rPr>
              <a:t>Tanggal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lahir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 </a:t>
            </a:r>
            <a:r>
              <a:rPr lang="en-US" sz="1700" dirty="0" err="1">
                <a:latin typeface="Montserrat" panose="00000500000000000000" pitchFamily="2" charset="0"/>
              </a:rPr>
              <a:t>Usia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 bisa </a:t>
            </a:r>
            <a:r>
              <a:rPr lang="en-US" sz="1700" dirty="0" err="1">
                <a:latin typeface="Montserrat" panose="00000500000000000000" pitchFamily="2" charset="0"/>
              </a:rPr>
              <a:t>menjadi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faktor</a:t>
            </a:r>
            <a:r>
              <a:rPr lang="en-US" sz="1700" dirty="0">
                <a:latin typeface="Montserrat" panose="00000500000000000000" pitchFamily="2" charset="0"/>
              </a:rPr>
              <a:t>, </a:t>
            </a:r>
            <a:r>
              <a:rPr lang="en-US" sz="1700" dirty="0" err="1">
                <a:latin typeface="Montserrat" panose="00000500000000000000" pitchFamily="2" charset="0"/>
              </a:rPr>
              <a:t>misalnya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kelompok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usia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tertentu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mungkin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lebih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rentan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terhadap</a:t>
            </a:r>
            <a:r>
              <a:rPr lang="en-US" sz="1700" dirty="0">
                <a:latin typeface="Montserrat" panose="00000500000000000000" pitchFamily="2" charset="0"/>
              </a:rPr>
              <a:t> fraud.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trans_num</a:t>
            </a:r>
            <a:r>
              <a:rPr lang="en-US" sz="1700" dirty="0">
                <a:latin typeface="Montserrat" panose="00000500000000000000" pitchFamily="2" charset="0"/>
              </a:rPr>
              <a:t>: ID </a:t>
            </a:r>
            <a:r>
              <a:rPr lang="en-US" sz="1700" dirty="0" err="1">
                <a:latin typeface="Montserrat" panose="00000500000000000000" pitchFamily="2" charset="0"/>
              </a:rPr>
              <a:t>unik</a:t>
            </a:r>
            <a:r>
              <a:rPr lang="en-US" sz="1700" dirty="0">
                <a:latin typeface="Montserrat" panose="00000500000000000000" pitchFamily="2" charset="0"/>
              </a:rPr>
              <a:t> untuk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. Tidak </a:t>
            </a:r>
            <a:r>
              <a:rPr lang="en-US" sz="1700" dirty="0" err="1">
                <a:latin typeface="Montserrat" panose="00000500000000000000" pitchFamily="2" charset="0"/>
              </a:rPr>
              <a:t>relevan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deteksi</a:t>
            </a:r>
            <a:r>
              <a:rPr lang="en-US" sz="1700" dirty="0">
                <a:latin typeface="Montserrat" panose="00000500000000000000" pitchFamily="2" charset="0"/>
              </a:rPr>
              <a:t> fraud </a:t>
            </a:r>
            <a:r>
              <a:rPr lang="en-US" sz="1700" dirty="0" err="1">
                <a:latin typeface="Montserrat" panose="00000500000000000000" pitchFamily="2" charset="0"/>
              </a:rPr>
              <a:t>secara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langsung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unix_time</a:t>
            </a:r>
            <a:r>
              <a:rPr lang="en-US" sz="1700" dirty="0">
                <a:latin typeface="Montserrat" panose="00000500000000000000" pitchFamily="2" charset="0"/>
              </a:rPr>
              <a:t>: Waktu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format </a:t>
            </a:r>
            <a:r>
              <a:rPr lang="en-US" sz="1700" dirty="0" err="1">
                <a:latin typeface="Montserrat" panose="00000500000000000000" pitchFamily="2" charset="0"/>
              </a:rPr>
              <a:t>unix</a:t>
            </a:r>
            <a:r>
              <a:rPr lang="en-US" sz="1700" dirty="0">
                <a:latin typeface="Montserrat" panose="00000500000000000000" pitchFamily="2" charset="0"/>
              </a:rPr>
              <a:t>. Sama seperti </a:t>
            </a:r>
            <a:r>
              <a:rPr lang="en-US" sz="1700" dirty="0" err="1">
                <a:latin typeface="Montserrat" panose="00000500000000000000" pitchFamily="2" charset="0"/>
              </a:rPr>
              <a:t>trans_date_trans_time</a:t>
            </a:r>
            <a:r>
              <a:rPr lang="en-US" sz="1700" dirty="0">
                <a:latin typeface="Montserrat" panose="00000500000000000000" pitchFamily="2" charset="0"/>
              </a:rPr>
              <a:t>,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dalam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menganalisis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pola</a:t>
            </a:r>
            <a:r>
              <a:rPr lang="en-US" sz="1700" dirty="0">
                <a:latin typeface="Montserrat" panose="00000500000000000000" pitchFamily="2" charset="0"/>
              </a:rPr>
              <a:t> waktu.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merch_lat</a:t>
            </a:r>
            <a:r>
              <a:rPr lang="en-US" sz="1700" dirty="0">
                <a:latin typeface="Montserrat" panose="00000500000000000000" pitchFamily="2" charset="0"/>
              </a:rPr>
              <a:t>: </a:t>
            </a:r>
            <a:r>
              <a:rPr lang="en-US" sz="1700" dirty="0" err="1">
                <a:latin typeface="Montserrat" panose="00000500000000000000" pitchFamily="2" charset="0"/>
              </a:rPr>
              <a:t>Garis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lintang</a:t>
            </a:r>
            <a:r>
              <a:rPr lang="en-US" sz="1700" dirty="0">
                <a:latin typeface="Montserrat" panose="00000500000000000000" pitchFamily="2" charset="0"/>
              </a:rPr>
              <a:t> merchant. Dapat </a:t>
            </a:r>
            <a:r>
              <a:rPr lang="en-US" sz="1700" dirty="0" err="1">
                <a:latin typeface="Montserrat" panose="00000500000000000000" pitchFamily="2" charset="0"/>
              </a:rPr>
              <a:t>digunakan</a:t>
            </a:r>
            <a:r>
              <a:rPr lang="en-US" sz="1700" dirty="0">
                <a:latin typeface="Montserrat" panose="00000500000000000000" pitchFamily="2" charset="0"/>
              </a:rPr>
              <a:t> untuk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ketidaksesuaian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antara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 merchant dan </a:t>
            </a:r>
            <a:r>
              <a:rPr lang="en-US" sz="1700" dirty="0" err="1">
                <a:latin typeface="Montserrat" panose="00000500000000000000" pitchFamily="2" charset="0"/>
              </a:rPr>
              <a:t>pemegang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kartu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merch_long</a:t>
            </a:r>
            <a:r>
              <a:rPr lang="en-US" sz="1700" dirty="0">
                <a:latin typeface="Montserrat" panose="00000500000000000000" pitchFamily="2" charset="0"/>
              </a:rPr>
              <a:t>: </a:t>
            </a:r>
            <a:r>
              <a:rPr lang="en-US" sz="1700" dirty="0" err="1">
                <a:latin typeface="Montserrat" panose="00000500000000000000" pitchFamily="2" charset="0"/>
              </a:rPr>
              <a:t>Garis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bujur</a:t>
            </a:r>
            <a:r>
              <a:rPr lang="en-US" sz="1700" dirty="0">
                <a:latin typeface="Montserrat" panose="00000500000000000000" pitchFamily="2" charset="0"/>
              </a:rPr>
              <a:t> merchant. Sama seperti </a:t>
            </a:r>
            <a:r>
              <a:rPr lang="en-US" sz="1700" dirty="0" err="1">
                <a:latin typeface="Montserrat" panose="00000500000000000000" pitchFamily="2" charset="0"/>
              </a:rPr>
              <a:t>merch_lat</a:t>
            </a:r>
            <a:r>
              <a:rPr lang="en-US" sz="1700" dirty="0">
                <a:latin typeface="Montserrat" panose="00000500000000000000" pitchFamily="2" charset="0"/>
              </a:rPr>
              <a:t>, </a:t>
            </a:r>
            <a:r>
              <a:rPr lang="en-US" sz="1700" dirty="0" err="1">
                <a:latin typeface="Montserrat" panose="00000500000000000000" pitchFamily="2" charset="0"/>
              </a:rPr>
              <a:t>membantu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mendeteksi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anomali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lokasi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700" dirty="0" err="1">
                <a:latin typeface="Montserrat" panose="00000500000000000000" pitchFamily="2" charset="0"/>
              </a:rPr>
              <a:t>is_fraud</a:t>
            </a:r>
            <a:r>
              <a:rPr lang="en-US" sz="1700" dirty="0">
                <a:latin typeface="Montserrat" panose="00000500000000000000" pitchFamily="2" charset="0"/>
              </a:rPr>
              <a:t>: Label </a:t>
            </a:r>
            <a:r>
              <a:rPr lang="en-US" sz="1700" dirty="0" err="1">
                <a:latin typeface="Montserrat" panose="00000500000000000000" pitchFamily="2" charset="0"/>
              </a:rPr>
              <a:t>apakah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transaksi</a:t>
            </a:r>
            <a:r>
              <a:rPr lang="en-US" sz="1700" dirty="0">
                <a:latin typeface="Montserrat" panose="00000500000000000000" pitchFamily="2" charset="0"/>
              </a:rPr>
              <a:t> </a:t>
            </a:r>
            <a:r>
              <a:rPr lang="en-US" sz="1700" dirty="0" err="1">
                <a:latin typeface="Montserrat" panose="00000500000000000000" pitchFamily="2" charset="0"/>
              </a:rPr>
              <a:t>adalah</a:t>
            </a:r>
            <a:r>
              <a:rPr lang="en-US" sz="1700" dirty="0">
                <a:latin typeface="Montserrat" panose="00000500000000000000" pitchFamily="2" charset="0"/>
              </a:rPr>
              <a:t> fraud (0 = tidak fraud, 1 = fraud). Ini </a:t>
            </a:r>
            <a:r>
              <a:rPr lang="en-US" sz="1700" dirty="0" err="1">
                <a:latin typeface="Montserrat" panose="00000500000000000000" pitchFamily="2" charset="0"/>
              </a:rPr>
              <a:t>adalah</a:t>
            </a:r>
            <a:r>
              <a:rPr lang="en-US" sz="1700" dirty="0">
                <a:latin typeface="Montserrat" panose="00000500000000000000" pitchFamily="2" charset="0"/>
              </a:rPr>
              <a:t> target yang perlu </a:t>
            </a:r>
            <a:r>
              <a:rPr lang="en-US" sz="1700" dirty="0" err="1">
                <a:latin typeface="Montserrat" panose="00000500000000000000" pitchFamily="2" charset="0"/>
              </a:rPr>
              <a:t>diprediksi</a:t>
            </a:r>
            <a:r>
              <a:rPr lang="en-US" sz="1700" dirty="0">
                <a:latin typeface="Montserrat" panose="00000500000000000000" pitchFamily="2" charset="0"/>
              </a:rPr>
              <a:t>.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8585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Collection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1" y="1903543"/>
            <a:ext cx="6743700" cy="1744067"/>
          </a:xfrm>
          <a:prstGeom prst="rect">
            <a:avLst/>
          </a:prstGeom>
        </p:spPr>
        <p:txBody>
          <a:bodyPr wrap="square" lIns="0" tIns="0" rIns="0" bIns="0" numCol="2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Preprocessing:</a:t>
            </a:r>
          </a:p>
          <a:p>
            <a:endParaRPr lang="en-US" dirty="0">
              <a:latin typeface="Montserrat" panose="00000500000000000000" pitchFamily="2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No missing values were found.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en-US" sz="24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08585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Data Preprocessing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70F9371-6790-4E6E-96E4-CBCEDECDC6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0713" y="3450200"/>
            <a:ext cx="2469094" cy="58526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BF133B9-3BD1-4C9F-B59C-9C09453895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4146" y="1085850"/>
            <a:ext cx="8093141" cy="425232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49AA752-D8BD-4259-BE1C-D706373D2A50}"/>
              </a:ext>
            </a:extLst>
          </p:cNvPr>
          <p:cNvSpPr/>
          <p:nvPr/>
        </p:nvSpPr>
        <p:spPr>
          <a:xfrm>
            <a:off x="7783287" y="190500"/>
            <a:ext cx="9144000" cy="6022161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lnSpc>
                <a:spcPts val="28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Drop Column not Needed: </a:t>
            </a:r>
          </a:p>
          <a:p>
            <a:r>
              <a:rPr lang="en-US" sz="2000" dirty="0">
                <a:solidFill>
                  <a:srgbClr val="141414"/>
                </a:solidFill>
                <a:latin typeface="Montserrat"/>
                <a:sym typeface="Montserrat"/>
              </a:rPr>
              <a:t>	</a:t>
            </a:r>
            <a:r>
              <a:rPr lang="en-US" dirty="0" err="1">
                <a:latin typeface="Montserrat" panose="00000500000000000000" pitchFamily="2" charset="0"/>
              </a:rPr>
              <a:t>unless_kolom</a:t>
            </a:r>
            <a:r>
              <a:rPr lang="en-US" dirty="0">
                <a:latin typeface="Montserrat" panose="00000500000000000000" pitchFamily="2" charset="0"/>
              </a:rPr>
              <a:t> = ['Unnamed: 0’]</a:t>
            </a: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endParaRPr lang="en-US" dirty="0">
              <a:latin typeface="Montserrat" panose="00000500000000000000" pitchFamily="2" charset="0"/>
            </a:endParaRPr>
          </a:p>
          <a:p>
            <a:r>
              <a:rPr lang="en-US" dirty="0">
                <a:latin typeface="Montserrat" panose="00000500000000000000" pitchFamily="2" charset="0"/>
              </a:rPr>
              <a:t>	</a:t>
            </a:r>
            <a:r>
              <a:rPr lang="en-US" dirty="0" err="1">
                <a:latin typeface="Montserrat" panose="00000500000000000000" pitchFamily="2" charset="0"/>
              </a:rPr>
              <a:t>indetifer</a:t>
            </a:r>
            <a:r>
              <a:rPr lang="en-US" dirty="0">
                <a:latin typeface="Montserrat" panose="00000500000000000000" pitchFamily="2" charset="0"/>
              </a:rPr>
              <a:t> = ['</a:t>
            </a:r>
            <a:r>
              <a:rPr lang="en-US" dirty="0" err="1">
                <a:latin typeface="Montserrat" panose="00000500000000000000" pitchFamily="2" charset="0"/>
              </a:rPr>
              <a:t>cc_num</a:t>
            </a:r>
            <a:r>
              <a:rPr lang="en-US" dirty="0">
                <a:latin typeface="Montserrat" panose="00000500000000000000" pitchFamily="2" charset="0"/>
              </a:rPr>
              <a:t>', 'first', 'last', '</a:t>
            </a:r>
            <a:r>
              <a:rPr lang="en-US" dirty="0" err="1">
                <a:latin typeface="Montserrat" panose="00000500000000000000" pitchFamily="2" charset="0"/>
              </a:rPr>
              <a:t>trans_num</a:t>
            </a:r>
            <a:r>
              <a:rPr lang="en-US" dirty="0">
                <a:latin typeface="Montserrat" panose="00000500000000000000" pitchFamily="2" charset="0"/>
              </a:rPr>
              <a:t>’]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5BDF022-1159-4F0F-A284-6D6D72458E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2800" y="6720551"/>
            <a:ext cx="10737662" cy="25986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420339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Distance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3A4E1-4AA9-4444-B1D6-86015FF57BF6}"/>
              </a:ext>
            </a:extLst>
          </p:cNvPr>
          <p:cNvSpPr/>
          <p:nvPr/>
        </p:nvSpPr>
        <p:spPr>
          <a:xfrm>
            <a:off x="304800" y="2452163"/>
            <a:ext cx="1607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Displays a new feature called Distance with a column in the location in kilometers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5394FA-175C-4594-B604-CCCAE6A46F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037426"/>
            <a:ext cx="17681778" cy="5763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71716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752481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OHE , Label Encoder &gt; 20 drop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3A4E1-4AA9-4444-B1D6-86015FF57BF6}"/>
              </a:ext>
            </a:extLst>
          </p:cNvPr>
          <p:cNvSpPr/>
          <p:nvPr/>
        </p:nvSpPr>
        <p:spPr>
          <a:xfrm>
            <a:off x="304800" y="2452163"/>
            <a:ext cx="1607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 a new feature with filter column category ['merchant', 'category', 'gender', 'street', 'city', 'state', 'zip', 'job', '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unix_time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’] has more than 20 unique values then will be drop. 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EBE60C-060B-4490-8A07-5344D4E6C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3539350"/>
            <a:ext cx="11734800" cy="5895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97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744466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Features, OHE , Label Encoder &gt; 20 drop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983A4E1-4AA9-4444-B1D6-86015FF57BF6}"/>
              </a:ext>
            </a:extLst>
          </p:cNvPr>
          <p:cNvSpPr/>
          <p:nvPr/>
        </p:nvSpPr>
        <p:spPr>
          <a:xfrm>
            <a:off x="304800" y="2452163"/>
            <a:ext cx="1607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 a new feature with filter column category ['merchant', 'category', 'gender', 'street', 'city', 'state', 'zip', 'job', '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unix_time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’] has more than 20 unique values then will be drop. 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8922B57-8FFA-479B-BC3C-8461ADD51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7066306"/>
            <a:ext cx="4582464" cy="322069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DE2E2B4-DA64-4D0A-B3E8-AE344B5F18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0" y="5695695"/>
            <a:ext cx="9340929" cy="45913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78ED4B4-501A-46E6-B84D-B9AD2A3111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92" y="3345625"/>
            <a:ext cx="8097909" cy="3658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276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6569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Risk Time, Risk Day, Age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1EE0B-6682-4356-B1B0-F2558A74998B}"/>
              </a:ext>
            </a:extLst>
          </p:cNvPr>
          <p:cNvSpPr/>
          <p:nvPr/>
        </p:nvSpPr>
        <p:spPr>
          <a:xfrm>
            <a:off x="304800" y="2452163"/>
            <a:ext cx="1607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 a new feature with the name Age from subtraction of 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trans_date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 and day of birth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5748652-E62D-420B-8D35-D481FE02C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88800"/>
            <a:ext cx="11872989" cy="3909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911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6569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Risk Time, Risk Day, Age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1EE0B-6682-4356-B1B0-F2558A74998B}"/>
              </a:ext>
            </a:extLst>
          </p:cNvPr>
          <p:cNvSpPr/>
          <p:nvPr/>
        </p:nvSpPr>
        <p:spPr>
          <a:xfrm>
            <a:off x="304800" y="2452163"/>
            <a:ext cx="1607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 a new feature with the name Age from subtraction of 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trans_date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 and day of birth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5CAF1E0-11EE-48E3-B84C-A39DCBB902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686" y="3162300"/>
            <a:ext cx="8806616" cy="37338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B952948-0417-4D57-8258-39B0C2D85D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2600" y="2938756"/>
            <a:ext cx="7848600" cy="4896081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A31205A-9C3A-4CAD-9095-B2E054ED110C}"/>
              </a:ext>
            </a:extLst>
          </p:cNvPr>
          <p:cNvSpPr/>
          <p:nvPr/>
        </p:nvSpPr>
        <p:spPr>
          <a:xfrm>
            <a:off x="2362200" y="8004601"/>
            <a:ext cx="140208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latin typeface="Montserrat" panose="00000500000000000000" pitchFamily="2" charset="0"/>
              </a:rPr>
              <a:t>Insight : Abnormal transactions were found, the possibility of fraudulent transactions occurring around 22:00 to 03:00</a:t>
            </a:r>
          </a:p>
        </p:txBody>
      </p:sp>
    </p:spTree>
    <p:extLst>
      <p:ext uri="{BB962C8B-B14F-4D97-AF65-F5344CB8AC3E}">
        <p14:creationId xmlns:p14="http://schemas.microsoft.com/office/powerpoint/2010/main" val="752895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656942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Risk Time, Risk Day, Age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1EE0B-6682-4356-B1B0-F2558A74998B}"/>
              </a:ext>
            </a:extLst>
          </p:cNvPr>
          <p:cNvSpPr/>
          <p:nvPr/>
        </p:nvSpPr>
        <p:spPr>
          <a:xfrm>
            <a:off x="304800" y="2452163"/>
            <a:ext cx="16078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 a new feature with the name 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risk_time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 from the 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trans_date_trans_time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 column with a regulation of 22 to 3 am risk time, the rest is normal time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F594736-49AE-4D2F-9F69-DD98E3DB5F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03281"/>
            <a:ext cx="18288000" cy="383363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3BFB010-25DD-42FD-93B6-214F850736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83160"/>
            <a:ext cx="8305800" cy="3130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66319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Exploratory Data Analysis (EDA) and Feature Engineering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7898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City Pop Category, Amt Category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EF1EE0B-6682-4356-B1B0-F2558A74998B}"/>
              </a:ext>
            </a:extLst>
          </p:cNvPr>
          <p:cNvSpPr/>
          <p:nvPr/>
        </p:nvSpPr>
        <p:spPr>
          <a:xfrm>
            <a:off x="304800" y="2452163"/>
            <a:ext cx="160782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Display a new feature with the name </a:t>
            </a:r>
            <a:r>
              <a:rPr lang="en-US" sz="2400" dirty="0" err="1">
                <a:solidFill>
                  <a:srgbClr val="008000"/>
                </a:solidFill>
                <a:latin typeface="Montserrat" panose="00000500000000000000" pitchFamily="2" charset="0"/>
              </a:rPr>
              <a:t>city_pop</a:t>
            </a:r>
            <a:r>
              <a:rPr lang="en-US" sz="2400" dirty="0">
                <a:solidFill>
                  <a:srgbClr val="008000"/>
                </a:solidFill>
                <a:latin typeface="Montserrat" panose="00000500000000000000" pitchFamily="2" charset="0"/>
              </a:rPr>
              <a:t> category, amt category with a percentile approach</a:t>
            </a:r>
            <a:endParaRPr lang="en-US" sz="2400" b="0" dirty="0">
              <a:solidFill>
                <a:srgbClr val="000000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E0AD1F2-7F57-4E20-9040-08928509AF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063059"/>
            <a:ext cx="5197290" cy="416088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705FBD6-5924-4B01-896D-0DD418ED7E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14" y="7223940"/>
            <a:ext cx="18141053" cy="2567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7785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Selection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7898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City Pop Category, Amt Category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33180D6-5312-445F-BDFE-1D45B04CF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0398"/>
            <a:ext cx="8310894" cy="580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17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28700" y="1085850"/>
            <a:ext cx="17259300" cy="64921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280"/>
              </a:lnSpc>
            </a:pPr>
            <a:r>
              <a:rPr lang="en-US" sz="44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Correlation Matrix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7F3C126-CC97-44BF-AA87-D50213F52DE8}"/>
              </a:ext>
            </a:extLst>
          </p:cNvPr>
          <p:cNvSpPr/>
          <p:nvPr/>
        </p:nvSpPr>
        <p:spPr>
          <a:xfrm>
            <a:off x="0" y="1866900"/>
            <a:ext cx="78983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1F1F1F"/>
                </a:solidFill>
                <a:latin typeface="Montserrat" panose="00000500000000000000" pitchFamily="2" charset="0"/>
              </a:rPr>
              <a:t>New Features : City Pop Category, Amt Category</a:t>
            </a:r>
            <a:endParaRPr lang="en-US" sz="2400" b="0" i="0" dirty="0">
              <a:solidFill>
                <a:srgbClr val="1F1F1F"/>
              </a:solidFill>
              <a:effectLst/>
              <a:latin typeface="Montserrat" panose="00000500000000000000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5A00B5D-02FC-4752-9717-99BEBDF265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8316" y="1704224"/>
            <a:ext cx="9479752" cy="8337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5743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1938175"/>
            <a:ext cx="13650249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Models Used:</a:t>
            </a:r>
          </a:p>
          <a:p>
            <a:pPr algn="l">
              <a:lnSpc>
                <a:spcPts val="2800"/>
              </a:lnSpc>
            </a:pPr>
            <a:endParaRPr lang="en-US" sz="2000" b="1" u="sng">
              <a:solidFill>
                <a:srgbClr val="141414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Regression: A linear model for binary classification tasks.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Forest: An ensemble learning method based on decision trees.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XGBoost: A gradient-boosting framework known for high performance in machine learning tasks.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08585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Development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4983" y="7505700"/>
            <a:ext cx="13650249" cy="692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SMOTE: 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Used to handle class imbalance by oversampling the minority class.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5043BA79-03CD-4A57-B130-BC4561E49516}"/>
              </a:ext>
            </a:extLst>
          </p:cNvPr>
          <p:cNvSpPr txBox="1"/>
          <p:nvPr/>
        </p:nvSpPr>
        <p:spPr>
          <a:xfrm>
            <a:off x="1028700" y="4558417"/>
            <a:ext cx="13650249" cy="2101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 Evaluation Metrics: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Precision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Recall 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F1-Score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Accuracy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5070" y="3630613"/>
            <a:ext cx="13650249" cy="105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Random Forest: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 model was trained on balanced data with SMOTE.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028700" y="108585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Training &amp; Optimization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5071" y="5372100"/>
            <a:ext cx="13650249" cy="105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AdaBoost:</a:t>
            </a:r>
          </a:p>
          <a:p>
            <a:pPr marL="431801" lvl="1" indent="-215900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AdaBoost model was trained on balanced data with SMOTE.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46843" y="7810500"/>
            <a:ext cx="13650249" cy="140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Feature Engineering: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New features like Distance, Risk Category, Gender, Risk Time, Age, City Pop and AMT Category were created to enhance the model’s understanding of customer behavior and increase prediction accuracy.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2">
            <a:extLst>
              <a:ext uri="{FF2B5EF4-FFF2-40B4-BE49-F238E27FC236}">
                <a16:creationId xmlns:a16="http://schemas.microsoft.com/office/drawing/2014/main" id="{202BACB6-7CAB-4BF1-8F57-BFCB27CEB414}"/>
              </a:ext>
            </a:extLst>
          </p:cNvPr>
          <p:cNvSpPr txBox="1"/>
          <p:nvPr/>
        </p:nvSpPr>
        <p:spPr>
          <a:xfrm>
            <a:off x="1025069" y="1995011"/>
            <a:ext cx="13650249" cy="1050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Logistic Regression: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model was trained on balanced data with SMOTE.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2242227"/>
            <a:ext cx="52959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without SMOTE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085850"/>
            <a:ext cx="12145206" cy="679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 dirty="0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Results Modelling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415274" y="2242227"/>
            <a:ext cx="5586726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with SMOTE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3EFD14-0A33-4AD9-A239-79801ECED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422" y="8243739"/>
            <a:ext cx="5316005" cy="19184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E39AEAC1-417E-4DC0-81D9-C56FE34C08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99" y="2667633"/>
            <a:ext cx="5791201" cy="182009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C50D622-85CF-461C-8643-D3BF22E48A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96600" y="2734452"/>
            <a:ext cx="5301849" cy="1862045"/>
          </a:xfrm>
          <a:prstGeom prst="rect">
            <a:avLst/>
          </a:prstGeom>
        </p:spPr>
      </p:pic>
      <p:sp>
        <p:nvSpPr>
          <p:cNvPr id="19" name="TextBox 2">
            <a:extLst>
              <a:ext uri="{FF2B5EF4-FFF2-40B4-BE49-F238E27FC236}">
                <a16:creationId xmlns:a16="http://schemas.microsoft.com/office/drawing/2014/main" id="{4610FDC3-02F2-4F72-B0DB-8FB3A8F49A16}"/>
              </a:ext>
            </a:extLst>
          </p:cNvPr>
          <p:cNvSpPr txBox="1"/>
          <p:nvPr/>
        </p:nvSpPr>
        <p:spPr>
          <a:xfrm>
            <a:off x="933449" y="4816288"/>
            <a:ext cx="52959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 without SMOTE</a:t>
            </a:r>
          </a:p>
        </p:txBody>
      </p:sp>
      <p:sp>
        <p:nvSpPr>
          <p:cNvPr id="20" name="TextBox 2">
            <a:extLst>
              <a:ext uri="{FF2B5EF4-FFF2-40B4-BE49-F238E27FC236}">
                <a16:creationId xmlns:a16="http://schemas.microsoft.com/office/drawing/2014/main" id="{FDEA0C5B-C63A-435C-996C-95F522EEE563}"/>
              </a:ext>
            </a:extLst>
          </p:cNvPr>
          <p:cNvSpPr txBox="1"/>
          <p:nvPr/>
        </p:nvSpPr>
        <p:spPr>
          <a:xfrm>
            <a:off x="10415274" y="4816288"/>
            <a:ext cx="52959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 with SMOTE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E7DFBC47-64E9-4DF8-9083-7D7E841594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75" y="5167293"/>
            <a:ext cx="5295900" cy="197125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51BA4378-7C89-4171-B10F-A0F12423247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77932" y="8241925"/>
            <a:ext cx="5324068" cy="1918449"/>
          </a:xfrm>
          <a:prstGeom prst="rect">
            <a:avLst/>
          </a:prstGeom>
        </p:spPr>
      </p:pic>
      <p:sp>
        <p:nvSpPr>
          <p:cNvPr id="24" name="TextBox 2">
            <a:extLst>
              <a:ext uri="{FF2B5EF4-FFF2-40B4-BE49-F238E27FC236}">
                <a16:creationId xmlns:a16="http://schemas.microsoft.com/office/drawing/2014/main" id="{A7F521A8-E8D3-4395-8EA3-84AF3A2277A0}"/>
              </a:ext>
            </a:extLst>
          </p:cNvPr>
          <p:cNvSpPr txBox="1"/>
          <p:nvPr/>
        </p:nvSpPr>
        <p:spPr>
          <a:xfrm>
            <a:off x="10415274" y="7693023"/>
            <a:ext cx="52959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AdaBoost with SMOTE</a:t>
            </a: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422C9983-438D-418E-B9C7-F9CEDB6A3C4E}"/>
              </a:ext>
            </a:extLst>
          </p:cNvPr>
          <p:cNvSpPr txBox="1"/>
          <p:nvPr/>
        </p:nvSpPr>
        <p:spPr>
          <a:xfrm>
            <a:off x="933449" y="7758660"/>
            <a:ext cx="52959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b="1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AdaBoost without SMOTE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7E5CB058-69A4-42C3-9AC0-A59A5754AD1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3480" y="5174343"/>
            <a:ext cx="5213254" cy="19642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28700" y="1085850"/>
            <a:ext cx="12145206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34800" y="2054529"/>
            <a:ext cx="55245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with SMOTE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825F6-8093-400C-B7DE-DB06CEF3301A}"/>
              </a:ext>
            </a:extLst>
          </p:cNvPr>
          <p:cNvSpPr txBox="1"/>
          <p:nvPr/>
        </p:nvSpPr>
        <p:spPr>
          <a:xfrm>
            <a:off x="1752600" y="2165305"/>
            <a:ext cx="52197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Logistic Regression without SMOTE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1EDDA2-3500-4EFE-B23A-C967B143E2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9800" y="2857500"/>
            <a:ext cx="7244443" cy="5532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A8DF4D-953C-4330-9B58-78B5D3913E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06855"/>
            <a:ext cx="6636144" cy="553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9560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28700" y="1085850"/>
            <a:ext cx="12145206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34800" y="2054529"/>
            <a:ext cx="41910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 with SMOTE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825F6-8093-400C-B7DE-DB06CEF3301A}"/>
              </a:ext>
            </a:extLst>
          </p:cNvPr>
          <p:cNvSpPr txBox="1"/>
          <p:nvPr/>
        </p:nvSpPr>
        <p:spPr>
          <a:xfrm>
            <a:off x="1676400" y="2178912"/>
            <a:ext cx="44958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Random Forest without SMOTE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A387E5-BF4A-450F-B678-21499EE9E3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2705100"/>
            <a:ext cx="6894240" cy="553212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CE183DC-8FAA-4AF9-9D92-3009BE66D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61978" y="2735943"/>
            <a:ext cx="5936643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523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1028700" y="1085850"/>
            <a:ext cx="12145206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Confusion Matrix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734800" y="2054529"/>
            <a:ext cx="35814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AdaBoost with SMOTE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825F6-8093-400C-B7DE-DB06CEF3301A}"/>
              </a:ext>
            </a:extLst>
          </p:cNvPr>
          <p:cNvSpPr txBox="1"/>
          <p:nvPr/>
        </p:nvSpPr>
        <p:spPr>
          <a:xfrm>
            <a:off x="1676400" y="2178912"/>
            <a:ext cx="3581400" cy="3326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AdaBoost without SMOTE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7C83BD6-A0B8-495A-AB2E-3BB006954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1310" y="2697888"/>
            <a:ext cx="7178040" cy="5534583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3378875E-1A0F-48AB-867A-1C3CC2469A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781300"/>
            <a:ext cx="6186418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48765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/>
          <p:cNvSpPr txBox="1"/>
          <p:nvPr/>
        </p:nvSpPr>
        <p:spPr>
          <a:xfrm>
            <a:off x="1028700" y="1938175"/>
            <a:ext cx="13650249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 dirty="0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Implementation:</a:t>
            </a:r>
          </a:p>
          <a:p>
            <a:pPr marL="431801" lvl="1" indent="-215900" algn="l">
              <a:lnSpc>
                <a:spcPts val="2800"/>
              </a:lnSpc>
              <a:spcBef>
                <a:spcPct val="0"/>
              </a:spcBef>
              <a:buFont typeface="Arial"/>
              <a:buChar char="•"/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This fraud detection model can be implemented as a module within a CRM system to help businesses identify high-risk customers.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 dirty="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028700" y="1085850"/>
            <a:ext cx="9439405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Real-world Application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3746500"/>
            <a:ext cx="13650249" cy="13970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1" u="sng">
                <a:solidFill>
                  <a:srgbClr val="141414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Usage: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The output of the model would trigger proactive customer retention strategies, such as targeted offers or improved customer service, for customers predicted to churn.</a:t>
            </a:r>
          </a:p>
          <a:p>
            <a:pPr algn="l">
              <a:lnSpc>
                <a:spcPts val="2800"/>
              </a:lnSpc>
              <a:spcBef>
                <a:spcPct val="0"/>
              </a:spcBef>
            </a:pPr>
            <a:endParaRPr lang="en-US" sz="2000">
              <a:solidFill>
                <a:srgbClr val="141414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8268629"/>
            <a:ext cx="340256" cy="340256"/>
          </a:xfrm>
          <a:custGeom>
            <a:avLst/>
            <a:gdLst/>
            <a:ahLst/>
            <a:cxnLst/>
            <a:rect l="l" t="t" r="r" b="b"/>
            <a:pathLst>
              <a:path w="340256" h="340256">
                <a:moveTo>
                  <a:pt x="0" y="0"/>
                </a:moveTo>
                <a:lnTo>
                  <a:pt x="340256" y="0"/>
                </a:lnTo>
                <a:lnTo>
                  <a:pt x="340256" y="340256"/>
                </a:lnTo>
                <a:lnTo>
                  <a:pt x="0" y="3402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028700" y="6647009"/>
            <a:ext cx="12589078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Don’t hesitate to contact us for further inquiries or any collaborations.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5745163"/>
            <a:ext cx="7655689" cy="6705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80"/>
              </a:lnSpc>
            </a:pPr>
            <a:r>
              <a:rPr lang="en-US" sz="4800" b="1" spc="-48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Contact Us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28700" y="7762533"/>
            <a:ext cx="2329985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 b="1">
                <a:solidFill>
                  <a:srgbClr val="E74D4E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Your Full Name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01454" y="8249844"/>
            <a:ext cx="1857231" cy="33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sz="2000" dirty="0">
                <a:solidFill>
                  <a:srgbClr val="141414"/>
                </a:solidFill>
                <a:latin typeface="Montserrat"/>
                <a:ea typeface="Montserrat"/>
                <a:cs typeface="Montserrat"/>
                <a:sym typeface="Montserrat"/>
              </a:rPr>
              <a:t>Dani Rahardjo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A529AF2-0EE5-435A-82AB-09F0342561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6144" y="720263"/>
            <a:ext cx="11935711" cy="479361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1505</TotalTime>
  <Words>1386</Words>
  <Application>Microsoft Office PowerPoint</Application>
  <PresentationFormat>Custom</PresentationFormat>
  <Paragraphs>153</Paragraphs>
  <Slides>23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Montserrat</vt:lpstr>
      <vt:lpstr>Montserrat Bold</vt:lpstr>
      <vt:lpstr>Montserrat Classic Bold</vt:lpstr>
      <vt:lpstr>Arial</vt:lpstr>
      <vt:lpstr>Montserrat Classic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Imam Suandi_Churn Customer _Final Project Presentation </dc:title>
  <cp:lastModifiedBy>dani rahardjo</cp:lastModifiedBy>
  <cp:revision>42</cp:revision>
  <dcterms:created xsi:type="dcterms:W3CDTF">2006-08-16T00:00:00Z</dcterms:created>
  <dcterms:modified xsi:type="dcterms:W3CDTF">2025-03-07T05:58:22Z</dcterms:modified>
  <dc:identifier>DAGQP4JL8OU</dc:identifier>
</cp:coreProperties>
</file>