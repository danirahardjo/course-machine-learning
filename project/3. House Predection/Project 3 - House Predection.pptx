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81" r:id="rId4"/>
    <p:sldId id="259" r:id="rId5"/>
    <p:sldId id="260" r:id="rId6"/>
    <p:sldId id="261" r:id="rId7"/>
    <p:sldId id="285" r:id="rId8"/>
    <p:sldId id="272" r:id="rId9"/>
    <p:sldId id="291" r:id="rId10"/>
    <p:sldId id="292" r:id="rId11"/>
    <p:sldId id="293" r:id="rId12"/>
    <p:sldId id="294" r:id="rId13"/>
    <p:sldId id="286" r:id="rId14"/>
    <p:sldId id="262" r:id="rId15"/>
    <p:sldId id="287" r:id="rId16"/>
    <p:sldId id="288" r:id="rId17"/>
    <p:sldId id="289" r:id="rId18"/>
    <p:sldId id="295" r:id="rId19"/>
    <p:sldId id="296" r:id="rId20"/>
    <p:sldId id="290" r:id="rId21"/>
    <p:sldId id="271" r:id="rId22"/>
  </p:sldIdLst>
  <p:sldSz cx="18288000" cy="10287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Montserrat Bold" panose="00000800000000000000" pitchFamily="2" charset="0"/>
      <p:regular r:id="rId32"/>
      <p:bold r:id="rId33"/>
    </p:embeddedFont>
    <p:embeddedFont>
      <p:font typeface="Montserrat Classic" panose="020B0604020202020204" charset="0"/>
      <p:regular r:id="rId34"/>
    </p:embeddedFont>
    <p:embeddedFont>
      <p:font typeface="Montserrat Classic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D77BD-D993-419D-A1D1-99AB68931BD3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3C9F8-1F61-4B6E-AA57-89020D4E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ppliedaicourse.com/blog/machine-learning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2lYhCkXITBIvgl6GN5chl0tVMlYCrYmC/view?usp=drive_link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E4FCE41-1FDA-4449-99C9-CD093246E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00"/>
            <a:ext cx="10457664" cy="6401132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13552010" y="5901681"/>
            <a:ext cx="370729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spc="-36" dirty="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Dani Rahardjo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49281" y="6672469"/>
            <a:ext cx="282148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2100" spc="-21" dirty="0">
                <a:solidFill>
                  <a:srgbClr val="545454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21 March 2025</a:t>
            </a:r>
          </a:p>
        </p:txBody>
      </p:sp>
      <p:sp>
        <p:nvSpPr>
          <p:cNvPr id="6" name="Freeform 6"/>
          <p:cNvSpPr/>
          <p:nvPr/>
        </p:nvSpPr>
        <p:spPr>
          <a:xfrm>
            <a:off x="788266" y="6969236"/>
            <a:ext cx="2766460" cy="2752627"/>
          </a:xfrm>
          <a:custGeom>
            <a:avLst/>
            <a:gdLst/>
            <a:ahLst/>
            <a:cxnLst/>
            <a:rect l="l" t="t" r="r" b="b"/>
            <a:pathLst>
              <a:path w="2766460" h="2752627">
                <a:moveTo>
                  <a:pt x="0" y="0"/>
                </a:moveTo>
                <a:lnTo>
                  <a:pt x="2766460" y="0"/>
                </a:lnTo>
                <a:lnTo>
                  <a:pt x="2766460" y="2752628"/>
                </a:lnTo>
                <a:lnTo>
                  <a:pt x="0" y="2752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84337" y="0"/>
            <a:ext cx="3086100" cy="10287000"/>
            <a:chOff x="0" y="0"/>
            <a:chExt cx="812800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40903" y="-108694"/>
            <a:ext cx="6689197" cy="10395694"/>
            <a:chOff x="0" y="0"/>
            <a:chExt cx="1761764" cy="27379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61764" cy="2737961"/>
            </a:xfrm>
            <a:custGeom>
              <a:avLst/>
              <a:gdLst/>
              <a:ahLst/>
              <a:cxnLst/>
              <a:rect l="l" t="t" r="r" b="b"/>
              <a:pathLst>
                <a:path w="1761764" h="2737961">
                  <a:moveTo>
                    <a:pt x="0" y="0"/>
                  </a:moveTo>
                  <a:lnTo>
                    <a:pt x="1761764" y="0"/>
                  </a:lnTo>
                  <a:lnTo>
                    <a:pt x="1761764" y="2737961"/>
                  </a:lnTo>
                  <a:lnTo>
                    <a:pt x="0" y="2737961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61764" cy="2776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87350" y="3079709"/>
            <a:ext cx="1027195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spc="-80" dirty="0">
                <a:solidFill>
                  <a:srgbClr val="E74D4E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House </a:t>
            </a:r>
            <a:r>
              <a:rPr lang="en-US" sz="8000" b="1" spc="-80" dirty="0" err="1">
                <a:solidFill>
                  <a:srgbClr val="E74D4E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Predection</a:t>
            </a:r>
            <a:endParaRPr lang="en-US" sz="8000" b="1" spc="-80" dirty="0">
              <a:solidFill>
                <a:srgbClr val="E74D4E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50950" y="-102870"/>
            <a:ext cx="5246370" cy="10389870"/>
            <a:chOff x="0" y="0"/>
            <a:chExt cx="812800" cy="16096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609663"/>
            </a:xfrm>
            <a:custGeom>
              <a:avLst/>
              <a:gdLst/>
              <a:ahLst/>
              <a:cxnLst/>
              <a:rect l="l" t="t" r="r" b="b"/>
              <a:pathLst>
                <a:path w="812800" h="1609663">
                  <a:moveTo>
                    <a:pt x="0" y="0"/>
                  </a:moveTo>
                  <a:lnTo>
                    <a:pt x="812800" y="0"/>
                  </a:lnTo>
                  <a:lnTo>
                    <a:pt x="812800" y="1609663"/>
                  </a:lnTo>
                  <a:lnTo>
                    <a:pt x="0" y="16096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28700" y="1085850"/>
            <a:ext cx="6374274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 of 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B945B-AFBA-4A5E-AF5E-6281FA71597D}"/>
              </a:ext>
            </a:extLst>
          </p:cNvPr>
          <p:cNvSpPr txBox="1"/>
          <p:nvPr/>
        </p:nvSpPr>
        <p:spPr>
          <a:xfrm>
            <a:off x="1028700" y="2736422"/>
            <a:ext cx="673613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Background &amp; 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Objectives &amp;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EDA &amp;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Correlation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Modelling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AAF162-3BEB-42AD-BCC4-561305200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088" y="2109968"/>
            <a:ext cx="4435949" cy="4884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50950" y="-102870"/>
            <a:ext cx="5246370" cy="10389870"/>
            <a:chOff x="0" y="0"/>
            <a:chExt cx="812800" cy="16096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609663"/>
            </a:xfrm>
            <a:custGeom>
              <a:avLst/>
              <a:gdLst/>
              <a:ahLst/>
              <a:cxnLst/>
              <a:rect l="l" t="t" r="r" b="b"/>
              <a:pathLst>
                <a:path w="812800" h="1609663">
                  <a:moveTo>
                    <a:pt x="0" y="0"/>
                  </a:moveTo>
                  <a:lnTo>
                    <a:pt x="812800" y="0"/>
                  </a:lnTo>
                  <a:lnTo>
                    <a:pt x="812800" y="1609663"/>
                  </a:lnTo>
                  <a:lnTo>
                    <a:pt x="0" y="16096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13787835" y="2736422"/>
            <a:ext cx="3972601" cy="4114800"/>
          </a:xfrm>
          <a:custGeom>
            <a:avLst/>
            <a:gdLst/>
            <a:ahLst/>
            <a:cxnLst/>
            <a:rect l="l" t="t" r="r" b="b"/>
            <a:pathLst>
              <a:path w="3972601" h="4114800">
                <a:moveTo>
                  <a:pt x="0" y="0"/>
                </a:moveTo>
                <a:lnTo>
                  <a:pt x="3972601" y="0"/>
                </a:lnTo>
                <a:lnTo>
                  <a:pt x="39726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691972"/>
            <a:ext cx="10516188" cy="140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Background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latin typeface="Montserrat" panose="00000500000000000000" pitchFamily="2" charset="0"/>
              </a:rPr>
              <a:t>The real estate market is dynamic and ever-changing, making house price prediction an essential tool for buyers, sellers, investors, and real estate professionals.</a:t>
            </a:r>
            <a:endParaRPr lang="en-US" sz="2400" dirty="0">
              <a:solidFill>
                <a:srgbClr val="141414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020" y="0"/>
            <a:ext cx="6374274" cy="133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 &amp; 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1767" y="6134100"/>
            <a:ext cx="10516188" cy="176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Statement:</a:t>
            </a:r>
            <a:r>
              <a:rPr lang="en-US" sz="2000" u="sng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latin typeface="Montserrat" panose="00000500000000000000" pitchFamily="2" charset="0"/>
              </a:rPr>
              <a:t>Accurate predictions help stakeholders make informed decisions, whether buying a dream home or planning a profitable investment. In recent years, </a:t>
            </a:r>
            <a:r>
              <a:rPr lang="en-US" sz="2000" b="1" u="sng" dirty="0">
                <a:latin typeface="Montserrat" panose="00000500000000000000" pitchFamily="2" charset="0"/>
                <a:hlinkClick r:id="rId4"/>
              </a:rPr>
              <a:t>machine learning</a:t>
            </a:r>
            <a:r>
              <a:rPr lang="en-US" sz="2000" dirty="0">
                <a:latin typeface="Montserrat" panose="00000500000000000000" pitchFamily="2" charset="0"/>
              </a:rPr>
              <a:t> has emerged as a game-changer in this field, offering unprecedented accuracy and insights compared to traditional statistical methods</a:t>
            </a: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4C6AE-2A72-4440-B11E-D99430457DB6}"/>
              </a:ext>
            </a:extLst>
          </p:cNvPr>
          <p:cNvSpPr txBox="1"/>
          <p:nvPr/>
        </p:nvSpPr>
        <p:spPr>
          <a:xfrm>
            <a:off x="1028700" y="9606521"/>
            <a:ext cx="9554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Reference: https://www.appliedaicourse.com/blog/house-price-prediction-using-machine-learning/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35084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05521"/>
            <a:ext cx="13650249" cy="105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Objective: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Create and compare machine learning models that predict whether house prices. The goal is to identify house prices based on strategic factors.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595" y="0"/>
            <a:ext cx="6274164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 &amp;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396344"/>
            <a:ext cx="13650249" cy="212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Scope: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project uses a dataset with house information, and the analysis is focused on applying classification techniques like Linear Regression, Random Forest and </a:t>
            </a:r>
            <a:r>
              <a:rPr lang="en-US" sz="2000" dirty="0" err="1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XGBoost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dataset can download 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here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1443" y="1756410"/>
            <a:ext cx="16802100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Source: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dataset used, Train.csv, contains house details :</a:t>
            </a:r>
          </a:p>
          <a:p>
            <a:endParaRPr lang="en-US" dirty="0"/>
          </a:p>
          <a:p>
            <a:endParaRPr lang="en-US" sz="1700" dirty="0">
              <a:latin typeface="Montserrat" panose="00000500000000000000" pitchFamily="2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16912" y="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Collection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DD31E38-778A-4845-BC40-CE491DEDF2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175897"/>
              </p:ext>
            </p:extLst>
          </p:nvPr>
        </p:nvGraphicFramePr>
        <p:xfrm>
          <a:off x="1524000" y="3006659"/>
          <a:ext cx="4013593" cy="1679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Packager Shell Object" showAsIcon="1" r:id="rId3" imgW="944280" imgH="394560" progId="Package">
                  <p:embed/>
                </p:oleObj>
              </mc:Choice>
              <mc:Fallback>
                <p:oleObj name="Packager Shell Object" showAsIcon="1" r:id="rId3" imgW="944280" imgH="3945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3006659"/>
                        <a:ext cx="4013593" cy="1679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78" y="687246"/>
            <a:ext cx="16303672" cy="1744067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Preprocessing:</a:t>
            </a:r>
          </a:p>
          <a:p>
            <a:endParaRPr lang="en-US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There are 19 columns missing values were found.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endParaRPr lang="en-US" sz="24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2D5F2-CDAC-4187-B7A9-4CB7BC87F9E9}"/>
              </a:ext>
            </a:extLst>
          </p:cNvPr>
          <p:cNvSpPr/>
          <p:nvPr/>
        </p:nvSpPr>
        <p:spPr>
          <a:xfrm>
            <a:off x="14514" y="9336070"/>
            <a:ext cx="181402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Number of columns with null values: 19 Columns with null values: ['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LotFrontage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'Alley',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MasVnrType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MasVnrArea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BsmtQual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BsmtCond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BsmtExposure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'BsmtFinType1', 'BsmtFinType2', 'Electrical',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FireplaceQu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GarageType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GarageYrBlt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GarageFinish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GarageQual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GarageCond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PoolQC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', 'Fence', '</a:t>
            </a:r>
            <a:r>
              <a:rPr lang="en-US" dirty="0" err="1">
                <a:solidFill>
                  <a:srgbClr val="1F1F1F"/>
                </a:solidFill>
                <a:latin typeface="Montserrat" panose="00000500000000000000" pitchFamily="2" charset="0"/>
              </a:rPr>
              <a:t>MiscFeature</a:t>
            </a:r>
            <a:r>
              <a:rPr lang="en-US" dirty="0">
                <a:solidFill>
                  <a:srgbClr val="1F1F1F"/>
                </a:solidFill>
                <a:latin typeface="Montserrat" panose="00000500000000000000" pitchFamily="2" charset="0"/>
              </a:rPr>
              <a:t>']</a:t>
            </a:r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61340-A32C-465B-BC75-DBF594329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11011150" cy="7432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4F3B6FB-3264-4D99-A63C-C4D97CDBCFF2}"/>
              </a:ext>
            </a:extLst>
          </p:cNvPr>
          <p:cNvSpPr txBox="1"/>
          <p:nvPr/>
        </p:nvSpPr>
        <p:spPr>
          <a:xfrm>
            <a:off x="152400" y="670560"/>
            <a:ext cx="17030700" cy="1251625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Selected Columns:</a:t>
            </a:r>
          </a:p>
          <a:p>
            <a:endParaRPr lang="en-US" dirty="0">
              <a:latin typeface="Montserrat" panose="000005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Only 12 columns for selected based on reference from </a:t>
            </a:r>
            <a:r>
              <a:rPr lang="en-US" sz="2000" dirty="0">
                <a:latin typeface="Montserrat" panose="00000500000000000000" pitchFamily="2" charset="0"/>
              </a:rPr>
              <a:t>https://www.geeksforgeeks.org/house-price-prediction-using-machine-learning-in-python/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4DDDDC-79A1-49FC-A3E2-4328871B7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71700"/>
            <a:ext cx="16956736" cy="665542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D5B5EEB5-01EA-4863-AD36-0A6771312395}"/>
              </a:ext>
            </a:extLst>
          </p:cNvPr>
          <p:cNvSpPr txBox="1"/>
          <p:nvPr/>
        </p:nvSpPr>
        <p:spPr>
          <a:xfrm>
            <a:off x="0" y="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752987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5087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813937"/>
            <a:ext cx="3398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F1F1F"/>
                </a:solidFill>
                <a:latin typeface="Montserrat" panose="00000500000000000000" pitchFamily="2" charset="0"/>
              </a:rPr>
              <a:t>Correlation Matrix</a:t>
            </a:r>
            <a:endParaRPr lang="en-US" sz="2400" b="1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BEB5BC-2371-4F0D-A355-FB640731F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328565"/>
            <a:ext cx="8534400" cy="790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7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5087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852037"/>
            <a:ext cx="105432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F1F1F"/>
                </a:solidFill>
                <a:latin typeface="Montserrat" panose="00000500000000000000" pitchFamily="2" charset="0"/>
              </a:rPr>
              <a:t>MSZoning</a:t>
            </a: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 - Identifies the general zoning classification of the sale.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AFB95-941F-4ED3-B7A0-6337FC573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14" y="1714500"/>
            <a:ext cx="12435114" cy="73568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591F432-8647-4ADB-B73E-7D51C4ADDBEC}"/>
              </a:ext>
            </a:extLst>
          </p:cNvPr>
          <p:cNvSpPr/>
          <p:nvPr/>
        </p:nvSpPr>
        <p:spPr>
          <a:xfrm>
            <a:off x="12573000" y="3989338"/>
            <a:ext cx="426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 A	Agriculture</a:t>
            </a:r>
          </a:p>
          <a:p>
            <a:r>
              <a:rPr lang="en-US" dirty="0"/>
              <a:t>       C	Commercial</a:t>
            </a:r>
          </a:p>
          <a:p>
            <a:r>
              <a:rPr lang="en-US" dirty="0"/>
              <a:t>       FV	Floating Village Residential</a:t>
            </a:r>
          </a:p>
          <a:p>
            <a:r>
              <a:rPr lang="en-US" dirty="0"/>
              <a:t>       I	Industrial</a:t>
            </a:r>
          </a:p>
          <a:p>
            <a:r>
              <a:rPr lang="en-US" dirty="0"/>
              <a:t>       RH	Residential High Density</a:t>
            </a:r>
          </a:p>
          <a:p>
            <a:r>
              <a:rPr lang="en-US" dirty="0"/>
              <a:t>       RL	Residential Low Density</a:t>
            </a:r>
          </a:p>
          <a:p>
            <a:r>
              <a:rPr lang="en-US" dirty="0"/>
              <a:t>       RP	Residential Low Density Park </a:t>
            </a:r>
          </a:p>
          <a:p>
            <a:r>
              <a:rPr lang="en-US" dirty="0"/>
              <a:t>       RM	Residential Medium Density</a:t>
            </a:r>
          </a:p>
        </p:txBody>
      </p:sp>
    </p:spTree>
    <p:extLst>
      <p:ext uri="{BB962C8B-B14F-4D97-AF65-F5344CB8AC3E}">
        <p14:creationId xmlns:p14="http://schemas.microsoft.com/office/powerpoint/2010/main" val="111401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5087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852037"/>
            <a:ext cx="49391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F1F1F"/>
                </a:solidFill>
                <a:latin typeface="Montserrat" panose="00000500000000000000" pitchFamily="2" charset="0"/>
              </a:rPr>
              <a:t>LotConfig</a:t>
            </a: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 : Lot Configuration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67DB19-CC44-4AD4-B5CA-ED2FD0672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1435"/>
            <a:ext cx="13563600" cy="79521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6B4128-E7CA-4CC4-B546-2590D0183429}"/>
              </a:ext>
            </a:extLst>
          </p:cNvPr>
          <p:cNvSpPr txBox="1"/>
          <p:nvPr/>
        </p:nvSpPr>
        <p:spPr>
          <a:xfrm>
            <a:off x="15849600" y="2628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D3706-ABB3-4FE0-B59C-7C4B1651B8EF}"/>
              </a:ext>
            </a:extLst>
          </p:cNvPr>
          <p:cNvSpPr/>
          <p:nvPr/>
        </p:nvSpPr>
        <p:spPr>
          <a:xfrm>
            <a:off x="13030200" y="4533900"/>
            <a:ext cx="50234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 Inside	Inside lot</a:t>
            </a:r>
          </a:p>
          <a:p>
            <a:r>
              <a:rPr lang="en-US" dirty="0"/>
              <a:t>       Corner	Corner lot</a:t>
            </a:r>
          </a:p>
          <a:p>
            <a:r>
              <a:rPr lang="en-US" dirty="0"/>
              <a:t>       </a:t>
            </a:r>
            <a:r>
              <a:rPr lang="en-US" dirty="0" err="1"/>
              <a:t>CulDSac</a:t>
            </a:r>
            <a:r>
              <a:rPr lang="en-US" dirty="0"/>
              <a:t>	Cul-de-sac</a:t>
            </a:r>
          </a:p>
          <a:p>
            <a:r>
              <a:rPr lang="en-US" dirty="0"/>
              <a:t>       FR2		Frontage on 2 sides of property</a:t>
            </a:r>
          </a:p>
          <a:p>
            <a:r>
              <a:rPr lang="en-US" dirty="0"/>
              <a:t>       FR3		Frontage on 3 sides of property</a:t>
            </a:r>
          </a:p>
        </p:txBody>
      </p:sp>
    </p:spTree>
    <p:extLst>
      <p:ext uri="{BB962C8B-B14F-4D97-AF65-F5344CB8AC3E}">
        <p14:creationId xmlns:p14="http://schemas.microsoft.com/office/powerpoint/2010/main" val="10335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5087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852037"/>
            <a:ext cx="46217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F1F1F"/>
                </a:solidFill>
                <a:latin typeface="Montserrat" panose="00000500000000000000" pitchFamily="2" charset="0"/>
              </a:rPr>
              <a:t>BldgType</a:t>
            </a: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: Type of dwelling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B4128-E7CA-4CC4-B546-2590D0183429}"/>
              </a:ext>
            </a:extLst>
          </p:cNvPr>
          <p:cNvSpPr txBox="1"/>
          <p:nvPr/>
        </p:nvSpPr>
        <p:spPr>
          <a:xfrm>
            <a:off x="15849600" y="2628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39BD5-210D-4D2D-91D2-0DF62CD56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278"/>
            <a:ext cx="13060415" cy="74412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0453CC-AF58-4C52-850E-73D4EC63E085}"/>
              </a:ext>
            </a:extLst>
          </p:cNvPr>
          <p:cNvSpPr/>
          <p:nvPr/>
        </p:nvSpPr>
        <p:spPr>
          <a:xfrm>
            <a:off x="12801602" y="4065665"/>
            <a:ext cx="54863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 1Fam		Single-family Detached	</a:t>
            </a:r>
          </a:p>
          <a:p>
            <a:r>
              <a:rPr lang="en-US" dirty="0"/>
              <a:t>       2FmCon	Two-family Conversion; originally built as one-family dwelling </a:t>
            </a:r>
          </a:p>
          <a:p>
            <a:r>
              <a:rPr lang="en-US" dirty="0"/>
              <a:t>       </a:t>
            </a:r>
            <a:r>
              <a:rPr lang="en-US" dirty="0" err="1"/>
              <a:t>Duplx</a:t>
            </a:r>
            <a:r>
              <a:rPr lang="en-US" dirty="0"/>
              <a:t> 	Duplex</a:t>
            </a:r>
          </a:p>
          <a:p>
            <a:r>
              <a:rPr lang="en-US" dirty="0"/>
              <a:t>       </a:t>
            </a:r>
            <a:r>
              <a:rPr lang="en-US" dirty="0" err="1"/>
              <a:t>TwnhsE</a:t>
            </a:r>
            <a:r>
              <a:rPr lang="en-US" dirty="0"/>
              <a:t>	Townhouse End Unit</a:t>
            </a:r>
          </a:p>
          <a:p>
            <a:r>
              <a:rPr lang="en-US" dirty="0"/>
              <a:t>       </a:t>
            </a:r>
            <a:r>
              <a:rPr lang="en-US" dirty="0" err="1"/>
              <a:t>TwnhsI</a:t>
            </a:r>
            <a:r>
              <a:rPr lang="en-US" dirty="0"/>
              <a:t>	Townhouse Inside Unit</a:t>
            </a:r>
          </a:p>
        </p:txBody>
      </p:sp>
    </p:spTree>
    <p:extLst>
      <p:ext uri="{BB962C8B-B14F-4D97-AF65-F5344CB8AC3E}">
        <p14:creationId xmlns:p14="http://schemas.microsoft.com/office/powerpoint/2010/main" val="107778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5087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852037"/>
            <a:ext cx="6343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Exterior1st: Exterior covering on house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B4128-E7CA-4CC4-B546-2590D0183429}"/>
              </a:ext>
            </a:extLst>
          </p:cNvPr>
          <p:cNvSpPr txBox="1"/>
          <p:nvPr/>
        </p:nvSpPr>
        <p:spPr>
          <a:xfrm>
            <a:off x="15849600" y="2628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F78CB8-EDAC-4A55-9FBF-1D15542F4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12743133" cy="72434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2D2B5A-3607-453B-AC62-851C11B3EC40}"/>
              </a:ext>
            </a:extLst>
          </p:cNvPr>
          <p:cNvSpPr/>
          <p:nvPr/>
        </p:nvSpPr>
        <p:spPr>
          <a:xfrm>
            <a:off x="12954000" y="2529114"/>
            <a:ext cx="5105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 </a:t>
            </a:r>
            <a:r>
              <a:rPr lang="en-US" dirty="0" err="1"/>
              <a:t>AsbShng</a:t>
            </a:r>
            <a:r>
              <a:rPr lang="en-US" dirty="0"/>
              <a:t>	Asbestos Shingles</a:t>
            </a:r>
          </a:p>
          <a:p>
            <a:r>
              <a:rPr lang="en-US" dirty="0"/>
              <a:t>       </a:t>
            </a:r>
            <a:r>
              <a:rPr lang="en-US" dirty="0" err="1"/>
              <a:t>AsphShn</a:t>
            </a:r>
            <a:r>
              <a:rPr lang="en-US" dirty="0"/>
              <a:t>	Asphalt Shingles</a:t>
            </a:r>
          </a:p>
          <a:p>
            <a:r>
              <a:rPr lang="en-US" dirty="0"/>
              <a:t>       </a:t>
            </a:r>
            <a:r>
              <a:rPr lang="en-US" dirty="0" err="1"/>
              <a:t>BrkComm</a:t>
            </a:r>
            <a:r>
              <a:rPr lang="en-US" dirty="0"/>
              <a:t>	Brick Common</a:t>
            </a:r>
          </a:p>
          <a:p>
            <a:r>
              <a:rPr lang="en-US" dirty="0"/>
              <a:t>       </a:t>
            </a:r>
            <a:r>
              <a:rPr lang="en-US" dirty="0" err="1"/>
              <a:t>BrkFace</a:t>
            </a:r>
            <a:r>
              <a:rPr lang="en-US" dirty="0"/>
              <a:t>	Brick Face</a:t>
            </a:r>
          </a:p>
          <a:p>
            <a:r>
              <a:rPr lang="en-US" dirty="0"/>
              <a:t>       </a:t>
            </a:r>
            <a:r>
              <a:rPr lang="en-US" dirty="0" err="1"/>
              <a:t>CBlock</a:t>
            </a:r>
            <a:r>
              <a:rPr lang="en-US" dirty="0"/>
              <a:t>	Cinder Block</a:t>
            </a:r>
          </a:p>
          <a:p>
            <a:r>
              <a:rPr lang="en-US" dirty="0"/>
              <a:t>       </a:t>
            </a:r>
            <a:r>
              <a:rPr lang="en-US" dirty="0" err="1"/>
              <a:t>CemntBd</a:t>
            </a:r>
            <a:r>
              <a:rPr lang="en-US" dirty="0"/>
              <a:t>	Cement Board</a:t>
            </a:r>
          </a:p>
          <a:p>
            <a:r>
              <a:rPr lang="en-US" dirty="0"/>
              <a:t>       </a:t>
            </a:r>
            <a:r>
              <a:rPr lang="en-US" dirty="0" err="1"/>
              <a:t>HdBoard</a:t>
            </a:r>
            <a:r>
              <a:rPr lang="en-US" dirty="0"/>
              <a:t>	Hard Board</a:t>
            </a:r>
          </a:p>
          <a:p>
            <a:r>
              <a:rPr lang="en-US" dirty="0"/>
              <a:t>       </a:t>
            </a:r>
            <a:r>
              <a:rPr lang="en-US" dirty="0" err="1"/>
              <a:t>ImStucc</a:t>
            </a:r>
            <a:r>
              <a:rPr lang="en-US" dirty="0"/>
              <a:t>	Imitation Stucco</a:t>
            </a:r>
          </a:p>
          <a:p>
            <a:r>
              <a:rPr lang="en-US" dirty="0"/>
              <a:t>       </a:t>
            </a:r>
            <a:r>
              <a:rPr lang="en-US" dirty="0" err="1"/>
              <a:t>MetalSd</a:t>
            </a:r>
            <a:r>
              <a:rPr lang="en-US" dirty="0"/>
              <a:t>	Metal Siding</a:t>
            </a:r>
          </a:p>
          <a:p>
            <a:r>
              <a:rPr lang="en-US" dirty="0"/>
              <a:t>       Other		Other</a:t>
            </a:r>
          </a:p>
          <a:p>
            <a:r>
              <a:rPr lang="en-US" dirty="0"/>
              <a:t>       Plywood	Plywood</a:t>
            </a:r>
          </a:p>
          <a:p>
            <a:r>
              <a:rPr lang="en-US" dirty="0"/>
              <a:t>       </a:t>
            </a:r>
            <a:r>
              <a:rPr lang="en-US" dirty="0" err="1"/>
              <a:t>PreCast</a:t>
            </a:r>
            <a:r>
              <a:rPr lang="en-US" dirty="0"/>
              <a:t>	</a:t>
            </a:r>
            <a:r>
              <a:rPr lang="en-US" dirty="0" err="1"/>
              <a:t>PreCast</a:t>
            </a:r>
            <a:r>
              <a:rPr lang="en-US" dirty="0"/>
              <a:t>	</a:t>
            </a:r>
          </a:p>
          <a:p>
            <a:r>
              <a:rPr lang="en-US" dirty="0"/>
              <a:t>       Stone		Stone</a:t>
            </a:r>
          </a:p>
          <a:p>
            <a:r>
              <a:rPr lang="en-US" dirty="0"/>
              <a:t>       Stucco	Stucco</a:t>
            </a:r>
          </a:p>
          <a:p>
            <a:r>
              <a:rPr lang="en-US" dirty="0"/>
              <a:t>       </a:t>
            </a:r>
            <a:r>
              <a:rPr lang="en-US" dirty="0" err="1"/>
              <a:t>VinylSd</a:t>
            </a:r>
            <a:r>
              <a:rPr lang="en-US" dirty="0"/>
              <a:t>	Vinyl Siding</a:t>
            </a:r>
          </a:p>
          <a:p>
            <a:r>
              <a:rPr lang="en-US" dirty="0"/>
              <a:t>       Wd </a:t>
            </a:r>
            <a:r>
              <a:rPr lang="en-US" dirty="0" err="1"/>
              <a:t>Sdng</a:t>
            </a:r>
            <a:r>
              <a:rPr lang="en-US" dirty="0"/>
              <a:t>	Wood Siding</a:t>
            </a:r>
          </a:p>
          <a:p>
            <a:r>
              <a:rPr lang="en-US" dirty="0"/>
              <a:t>       </a:t>
            </a:r>
            <a:r>
              <a:rPr lang="en-US" dirty="0" err="1"/>
              <a:t>WdShing</a:t>
            </a:r>
            <a:r>
              <a:rPr lang="en-US" dirty="0"/>
              <a:t>	Wood Shingles</a:t>
            </a:r>
          </a:p>
        </p:txBody>
      </p:sp>
    </p:spTree>
    <p:extLst>
      <p:ext uri="{BB962C8B-B14F-4D97-AF65-F5344CB8AC3E}">
        <p14:creationId xmlns:p14="http://schemas.microsoft.com/office/powerpoint/2010/main" val="643410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4161" y="0"/>
            <a:ext cx="12216161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Splitting Dataset Training dan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F4863-0960-4C56-928F-531E71D3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99" y="2058248"/>
            <a:ext cx="15631227" cy="758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1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38175"/>
            <a:ext cx="13650249" cy="212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Models Used:</a:t>
            </a:r>
          </a:p>
          <a:p>
            <a:pPr algn="l">
              <a:lnSpc>
                <a:spcPts val="2800"/>
              </a:lnSpc>
            </a:pPr>
            <a:endParaRPr lang="en-US" sz="2000" b="1" u="sng" dirty="0">
              <a:solidFill>
                <a:srgbClr val="14141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Regression: A linear model for binary classification tasks.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Random Forest: An ensemble learning method based on decision trees.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 err="1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XGBoost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: A gradient-boosting framework known for high performance in machine learning tasks.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Development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043BA79-03CD-4A57-B130-BC4561E49516}"/>
              </a:ext>
            </a:extLst>
          </p:cNvPr>
          <p:cNvSpPr txBox="1"/>
          <p:nvPr/>
        </p:nvSpPr>
        <p:spPr>
          <a:xfrm>
            <a:off x="1028700" y="4558417"/>
            <a:ext cx="13650249" cy="176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Evaluation Metrics: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MSE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R-Squared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MAPE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90771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0"/>
            <a:ext cx="12145206" cy="130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Modelling</a:t>
            </a:r>
          </a:p>
          <a:p>
            <a:pPr algn="l">
              <a:lnSpc>
                <a:spcPts val="5280"/>
              </a:lnSpc>
            </a:pPr>
            <a:r>
              <a:rPr lang="en-US" sz="3200" b="1" spc="-48" dirty="0">
                <a:latin typeface="Montserrat Bold"/>
                <a:ea typeface="Montserrat Bold"/>
                <a:cs typeface="Montserrat Bold"/>
                <a:sym typeface="Montserrat Bold"/>
              </a:rPr>
              <a:t>Linear Regression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275BDA-81AF-4FBE-82E3-72DF8048A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776717"/>
              </p:ext>
            </p:extLst>
          </p:nvPr>
        </p:nvGraphicFramePr>
        <p:xfrm>
          <a:off x="0" y="2628900"/>
          <a:ext cx="18288000" cy="6818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0">
                  <a:extLst>
                    <a:ext uri="{9D8B030D-6E8A-4147-A177-3AD203B41FA5}">
                      <a16:colId xmlns:a16="http://schemas.microsoft.com/office/drawing/2014/main" val="532901735"/>
                    </a:ext>
                  </a:extLst>
                </a:gridCol>
                <a:gridCol w="9525000">
                  <a:extLst>
                    <a:ext uri="{9D8B030D-6E8A-4147-A177-3AD203B41FA5}">
                      <a16:colId xmlns:a16="http://schemas.microsoft.com/office/drawing/2014/main" val="185144858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Without Hyperparameter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Hyperparameter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443334"/>
                  </a:ext>
                </a:extLst>
              </a:tr>
              <a:tr h="613283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- Mean Squared Error: 291845802958.55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- R-squared: 61.95%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3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Train - Mean Squared Error: 230094964054.43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Regression Train - R-squared: 61.42%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Linear Regression - Mean Squared Error: 291845802958.55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Linear Regression - R-squared: 61.95%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32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Linear Regression Train - Mean Squared Error: 230094964054.43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Linear Regression Train - R-squared: 61.42%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68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767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0"/>
            <a:ext cx="12145206" cy="130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Modelling</a:t>
            </a:r>
          </a:p>
          <a:p>
            <a:pPr algn="l">
              <a:lnSpc>
                <a:spcPts val="5280"/>
              </a:lnSpc>
            </a:pPr>
            <a:r>
              <a:rPr lang="en-US" sz="3200" b="1" spc="-48" dirty="0">
                <a:latin typeface="Montserrat Bold"/>
                <a:ea typeface="Montserrat Bold"/>
                <a:cs typeface="Montserrat Bold"/>
                <a:sym typeface="Montserrat Bold"/>
              </a:rPr>
              <a:t>Random Forest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275BDA-81AF-4FBE-82E3-72DF8048A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73182"/>
              </p:ext>
            </p:extLst>
          </p:nvPr>
        </p:nvGraphicFramePr>
        <p:xfrm>
          <a:off x="0" y="2628900"/>
          <a:ext cx="18288000" cy="6818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0">
                  <a:extLst>
                    <a:ext uri="{9D8B030D-6E8A-4147-A177-3AD203B41FA5}">
                      <a16:colId xmlns:a16="http://schemas.microsoft.com/office/drawing/2014/main" val="532901735"/>
                    </a:ext>
                  </a:extLst>
                </a:gridCol>
                <a:gridCol w="9525000">
                  <a:extLst>
                    <a:ext uri="{9D8B030D-6E8A-4147-A177-3AD203B41FA5}">
                      <a16:colId xmlns:a16="http://schemas.microsoft.com/office/drawing/2014/main" val="185144858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Without Hyperparameter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Hyperparameter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443334"/>
                  </a:ext>
                </a:extLst>
              </a:tr>
              <a:tr h="613283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- Mean Squared Error: 140759676342.44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- R-squared: 81.65%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3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- Mean Squared Error Train: 19790071510.31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 Forest - R-squared Train: 96.68%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Random Forest - Mean Squared Error: 126400648723.26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Random Forest - R-squared: 83.52%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32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Random Forest - Mean Squared Error Train: 35963816335.41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Random Forest - R-squared Train: 93.97%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68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309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-19515"/>
            <a:ext cx="12145206" cy="130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Modelling</a:t>
            </a:r>
          </a:p>
          <a:p>
            <a:pPr algn="l">
              <a:lnSpc>
                <a:spcPts val="5280"/>
              </a:lnSpc>
            </a:pPr>
            <a:r>
              <a:rPr lang="en-US" sz="3200" b="1" spc="-48" dirty="0" err="1">
                <a:latin typeface="Montserrat Bold"/>
                <a:ea typeface="Montserrat Bold"/>
                <a:cs typeface="Montserrat Bold"/>
                <a:sym typeface="Montserrat Bold"/>
              </a:rPr>
              <a:t>XGBoost</a:t>
            </a:r>
            <a:endParaRPr lang="en-US" sz="3200" b="1" spc="-48" dirty="0"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275BDA-81AF-4FBE-82E3-72DF8048A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66514"/>
              </p:ext>
            </p:extLst>
          </p:nvPr>
        </p:nvGraphicFramePr>
        <p:xfrm>
          <a:off x="0" y="2628900"/>
          <a:ext cx="18288000" cy="6818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3000">
                  <a:extLst>
                    <a:ext uri="{9D8B030D-6E8A-4147-A177-3AD203B41FA5}">
                      <a16:colId xmlns:a16="http://schemas.microsoft.com/office/drawing/2014/main" val="532901735"/>
                    </a:ext>
                  </a:extLst>
                </a:gridCol>
                <a:gridCol w="9525000">
                  <a:extLst>
                    <a:ext uri="{9D8B030D-6E8A-4147-A177-3AD203B41FA5}">
                      <a16:colId xmlns:a16="http://schemas.microsoft.com/office/drawing/2014/main" val="185144858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Without Hyperparameter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Hyperparameter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443334"/>
                  </a:ext>
                </a:extLst>
              </a:tr>
              <a:tr h="613283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Mean Squared Error: 159673241600.00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R-squared: 79.18%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32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Mean Squared Error Train: 2173541600.00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R-squared Train: 99.64%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</a:t>
                      </a: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Mean Squared Error: 141491955200.00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</a:t>
                      </a: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R-squared: 81.55%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sz="32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</a:t>
                      </a: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Mean Squared Error Train: 17362028800.00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3200" dirty="0"/>
                        <a:t>Best </a:t>
                      </a:r>
                      <a:r>
                        <a:rPr lang="en-US" sz="3200" dirty="0" err="1"/>
                        <a:t>XGBoost</a:t>
                      </a:r>
                      <a:r>
                        <a:rPr lang="en-US" sz="3200" dirty="0"/>
                        <a:t> - R-squared Train: 97.09%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968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311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43468" y="91444"/>
            <a:ext cx="12024732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Modelling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9B656E-C3EB-4027-9121-698D978C9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04069"/>
              </p:ext>
            </p:extLst>
          </p:nvPr>
        </p:nvGraphicFramePr>
        <p:xfrm>
          <a:off x="223024" y="1515911"/>
          <a:ext cx="18064977" cy="2916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711">
                  <a:extLst>
                    <a:ext uri="{9D8B030D-6E8A-4147-A177-3AD203B41FA5}">
                      <a16:colId xmlns:a16="http://schemas.microsoft.com/office/drawing/2014/main" val="2453271166"/>
                    </a:ext>
                  </a:extLst>
                </a:gridCol>
                <a:gridCol w="2835065">
                  <a:extLst>
                    <a:ext uri="{9D8B030D-6E8A-4147-A177-3AD203B41FA5}">
                      <a16:colId xmlns:a16="http://schemas.microsoft.com/office/drawing/2014/main" val="3956540133"/>
                    </a:ext>
                  </a:extLst>
                </a:gridCol>
                <a:gridCol w="2326357">
                  <a:extLst>
                    <a:ext uri="{9D8B030D-6E8A-4147-A177-3AD203B41FA5}">
                      <a16:colId xmlns:a16="http://schemas.microsoft.com/office/drawing/2014/main" val="366465055"/>
                    </a:ext>
                  </a:extLst>
                </a:gridCol>
                <a:gridCol w="2580711">
                  <a:extLst>
                    <a:ext uri="{9D8B030D-6E8A-4147-A177-3AD203B41FA5}">
                      <a16:colId xmlns:a16="http://schemas.microsoft.com/office/drawing/2014/main" val="1997886251"/>
                    </a:ext>
                  </a:extLst>
                </a:gridCol>
                <a:gridCol w="3017732">
                  <a:extLst>
                    <a:ext uri="{9D8B030D-6E8A-4147-A177-3AD203B41FA5}">
                      <a16:colId xmlns:a16="http://schemas.microsoft.com/office/drawing/2014/main" val="3619181543"/>
                    </a:ext>
                  </a:extLst>
                </a:gridCol>
                <a:gridCol w="2143690">
                  <a:extLst>
                    <a:ext uri="{9D8B030D-6E8A-4147-A177-3AD203B41FA5}">
                      <a16:colId xmlns:a16="http://schemas.microsoft.com/office/drawing/2014/main" val="3406426007"/>
                    </a:ext>
                  </a:extLst>
                </a:gridCol>
                <a:gridCol w="2580711">
                  <a:extLst>
                    <a:ext uri="{9D8B030D-6E8A-4147-A177-3AD203B41FA5}">
                      <a16:colId xmlns:a16="http://schemas.microsoft.com/office/drawing/2014/main" val="1677450777"/>
                    </a:ext>
                  </a:extLst>
                </a:gridCol>
              </a:tblGrid>
              <a:tr h="6960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MSE (Test)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R-Squared (Test)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MAPE (Test)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MSE (Train)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R-Squared (Train)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MAPE (Train)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754640"/>
                  </a:ext>
                </a:extLst>
              </a:tr>
              <a:tr h="779699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Linear Regression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291845802958.55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61.95%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19.78%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230094964054.43</a:t>
                      </a:r>
                      <a:endParaRPr lang="en-US" sz="3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61.42%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18.08%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28959"/>
                  </a:ext>
                </a:extLst>
              </a:tr>
              <a:tr h="69605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140759676342.44</a:t>
                      </a:r>
                      <a:endParaRPr lang="en-US" sz="3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81.65% 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14.07% 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19790071510.31</a:t>
                      </a:r>
                      <a:endParaRPr lang="en-US" sz="3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96.68%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4.91%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7633"/>
                  </a:ext>
                </a:extLst>
              </a:tr>
              <a:tr h="69605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Montserrat" panose="00000500000000000000" pitchFamily="2" charset="0"/>
                        </a:rPr>
                        <a:t>XGBoost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159673241600.00</a:t>
                      </a:r>
                      <a:endParaRPr lang="en-US" sz="3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79.18%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14.65% 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2173541600.00</a:t>
                      </a:r>
                      <a:endParaRPr lang="en-US" sz="3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99.63%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1.99%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33111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BA0917D-C19C-471B-B75E-8D4FA1C896D9}"/>
              </a:ext>
            </a:extLst>
          </p:cNvPr>
          <p:cNvSpPr/>
          <p:nvPr/>
        </p:nvSpPr>
        <p:spPr>
          <a:xfrm>
            <a:off x="223024" y="894561"/>
            <a:ext cx="8577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Model Comparison (Without Hyperparameter Tuning):</a:t>
            </a:r>
            <a:endParaRPr lang="en-US" sz="2400" dirty="0">
              <a:latin typeface="Montserrat" panose="00000500000000000000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E51564B-5120-4675-9AC3-DC0463E4B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825549"/>
              </p:ext>
            </p:extLst>
          </p:nvPr>
        </p:nvGraphicFramePr>
        <p:xfrm>
          <a:off x="243468" y="5803900"/>
          <a:ext cx="18044530" cy="2916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790">
                  <a:extLst>
                    <a:ext uri="{9D8B030D-6E8A-4147-A177-3AD203B41FA5}">
                      <a16:colId xmlns:a16="http://schemas.microsoft.com/office/drawing/2014/main" val="2453271166"/>
                    </a:ext>
                  </a:extLst>
                </a:gridCol>
                <a:gridCol w="2817542">
                  <a:extLst>
                    <a:ext uri="{9D8B030D-6E8A-4147-A177-3AD203B41FA5}">
                      <a16:colId xmlns:a16="http://schemas.microsoft.com/office/drawing/2014/main" val="3956540133"/>
                    </a:ext>
                  </a:extLst>
                </a:gridCol>
                <a:gridCol w="2338038">
                  <a:extLst>
                    <a:ext uri="{9D8B030D-6E8A-4147-A177-3AD203B41FA5}">
                      <a16:colId xmlns:a16="http://schemas.microsoft.com/office/drawing/2014/main" val="366465055"/>
                    </a:ext>
                  </a:extLst>
                </a:gridCol>
                <a:gridCol w="2577790">
                  <a:extLst>
                    <a:ext uri="{9D8B030D-6E8A-4147-A177-3AD203B41FA5}">
                      <a16:colId xmlns:a16="http://schemas.microsoft.com/office/drawing/2014/main" val="1997886251"/>
                    </a:ext>
                  </a:extLst>
                </a:gridCol>
                <a:gridCol w="3008972">
                  <a:extLst>
                    <a:ext uri="{9D8B030D-6E8A-4147-A177-3AD203B41FA5}">
                      <a16:colId xmlns:a16="http://schemas.microsoft.com/office/drawing/2014/main" val="1271944699"/>
                    </a:ext>
                  </a:extLst>
                </a:gridCol>
                <a:gridCol w="2146608">
                  <a:extLst>
                    <a:ext uri="{9D8B030D-6E8A-4147-A177-3AD203B41FA5}">
                      <a16:colId xmlns:a16="http://schemas.microsoft.com/office/drawing/2014/main" val="1758854752"/>
                    </a:ext>
                  </a:extLst>
                </a:gridCol>
                <a:gridCol w="2577790">
                  <a:extLst>
                    <a:ext uri="{9D8B030D-6E8A-4147-A177-3AD203B41FA5}">
                      <a16:colId xmlns:a16="http://schemas.microsoft.com/office/drawing/2014/main" val="307604769"/>
                    </a:ext>
                  </a:extLst>
                </a:gridCol>
              </a:tblGrid>
              <a:tr h="6960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MSE (Test)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R-Squared (Test)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MAPE (Test)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MSE (Train)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ontserrat" panose="00000500000000000000" pitchFamily="2" charset="0"/>
                        </a:rPr>
                        <a:t>R-Squared (Train)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Montserrat" panose="00000500000000000000" pitchFamily="2" charset="0"/>
                        </a:rPr>
                        <a:t>MAPE (Train)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754640"/>
                  </a:ext>
                </a:extLst>
              </a:tr>
              <a:tr h="652327"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Linear Regression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291845802958.55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61.95%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19.78%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230094964054.43</a:t>
                      </a:r>
                      <a:endParaRPr lang="en-US" sz="32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61.42%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18.08%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28959"/>
                  </a:ext>
                </a:extLst>
              </a:tr>
              <a:tr h="69605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126400648723.26</a:t>
                      </a:r>
                      <a:endParaRPr lang="en-US" sz="3200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Montserrat" panose="00000500000000000000" pitchFamily="2" charset="0"/>
                        </a:rPr>
                        <a:t>83.52%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Montserrat" panose="00000500000000000000" pitchFamily="2" charset="0"/>
                        </a:rPr>
                        <a:t>13.90%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35963816335.41</a:t>
                      </a:r>
                      <a:endParaRPr lang="en-US" sz="3200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Montserrat" panose="00000500000000000000" pitchFamily="2" charset="0"/>
                        </a:rPr>
                        <a:t>93.97%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4.90%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7633"/>
                  </a:ext>
                </a:extLst>
              </a:tr>
              <a:tr h="69605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Montserrat" panose="00000500000000000000" pitchFamily="2" charset="0"/>
                        </a:rPr>
                        <a:t>XGBoost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141491955200.00 </a:t>
                      </a:r>
                      <a:endParaRPr lang="en-US" sz="2400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Montserrat" panose="00000500000000000000" pitchFamily="2" charset="0"/>
                        </a:rPr>
                        <a:t>81.55%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Montserrat" panose="00000500000000000000" pitchFamily="2" charset="0"/>
                        </a:rPr>
                        <a:t>13.50%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17362028800.00</a:t>
                      </a:r>
                      <a:endParaRPr lang="en-US" sz="2400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  <a:latin typeface="Montserrat" panose="00000500000000000000" pitchFamily="2" charset="0"/>
                        </a:rPr>
                        <a:t>97.08%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Montserrat" panose="00000500000000000000" pitchFamily="2" charset="0"/>
                        </a:rPr>
                        <a:t>1.99%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331117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D6502AB8-D113-4898-A580-6ED8B316709F}"/>
              </a:ext>
            </a:extLst>
          </p:cNvPr>
          <p:cNvSpPr/>
          <p:nvPr/>
        </p:nvSpPr>
        <p:spPr>
          <a:xfrm>
            <a:off x="223024" y="4941003"/>
            <a:ext cx="80538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Model Comparison (With Hyperparameter Tuning):</a:t>
            </a:r>
            <a:endParaRPr lang="en-US" sz="24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E5BECB6B-FBF5-42A1-A75D-6CFC48DAEDF8}"/>
              </a:ext>
            </a:extLst>
          </p:cNvPr>
          <p:cNvSpPr txBox="1"/>
          <p:nvPr/>
        </p:nvSpPr>
        <p:spPr>
          <a:xfrm>
            <a:off x="243468" y="91444"/>
            <a:ext cx="12024732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Importance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780C32-EA21-400D-A022-D1A85FE4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71" y="771117"/>
            <a:ext cx="6019800" cy="44618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03C092-016D-4438-A64B-92499553F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41" y="5348085"/>
            <a:ext cx="6567359" cy="4770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D32885-5773-4437-9F26-561276B3B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988421"/>
            <a:ext cx="6019800" cy="43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51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132BA126-48D2-4119-BBC8-8C73A4A71EF9}"/>
              </a:ext>
            </a:extLst>
          </p:cNvPr>
          <p:cNvSpPr txBox="1"/>
          <p:nvPr/>
        </p:nvSpPr>
        <p:spPr>
          <a:xfrm>
            <a:off x="228600" y="91444"/>
            <a:ext cx="12145206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1C616-0927-4868-BF63-B660CBCE21CB}"/>
              </a:ext>
            </a:extLst>
          </p:cNvPr>
          <p:cNvSpPr/>
          <p:nvPr/>
        </p:nvSpPr>
        <p:spPr>
          <a:xfrm>
            <a:off x="228600" y="1028700"/>
            <a:ext cx="17602200" cy="827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Montserrat" panose="00000500000000000000" pitchFamily="2" charset="0"/>
              </a:rPr>
              <a:t>Analyze and conclude which model is the best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Based on the results, we can see that ...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Montserrat" panose="00000500000000000000" pitchFamily="2" charset="0"/>
              </a:rPr>
              <a:t>XGBoost</a:t>
            </a:r>
            <a:r>
              <a:rPr lang="en-US" sz="2800" dirty="0">
                <a:latin typeface="Montserrat" panose="00000500000000000000" pitchFamily="2" charset="0"/>
              </a:rPr>
              <a:t> (with hyperparameter tuning) generally has the best results on testing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Montserrat" panose="00000500000000000000" pitchFamily="2" charset="0"/>
              </a:rPr>
              <a:t>Model overfitting occur in Random Forest (with and without hyperparameter tuning), where it has a better performance in train data but lower in test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Montserrat" panose="00000500000000000000" pitchFamily="2" charset="0"/>
              </a:rPr>
              <a:t>Hyperparameter tuning improves the performance of all models for the test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Montserrat" panose="00000500000000000000" pitchFamily="2" charset="0"/>
              </a:rPr>
              <a:t>Random Forest tends to have high training accuracy but lower test accuracy (potentially overfitting)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Montserrat" panose="00000500000000000000" pitchFamily="2" charset="0"/>
              </a:rPr>
              <a:t>Linear Regression models have lower accuracy compared to Random Forest and </a:t>
            </a:r>
            <a:r>
              <a:rPr lang="en-US" sz="2800" dirty="0" err="1">
                <a:latin typeface="Montserrat" panose="00000500000000000000" pitchFamily="2" charset="0"/>
              </a:rPr>
              <a:t>XGBoost</a:t>
            </a:r>
            <a:r>
              <a:rPr lang="en-US" sz="2800" dirty="0">
                <a:latin typeface="Montserrat" panose="00000500000000000000" pitchFamily="2" charset="0"/>
              </a:rPr>
              <a:t>, but the model can be implemented simpler.</a:t>
            </a:r>
          </a:p>
          <a:p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>
                <a:latin typeface="Montserrat" panose="00000500000000000000" pitchFamily="2" charset="0"/>
              </a:rPr>
              <a:t>Based on the results, we can conclude that </a:t>
            </a:r>
            <a:r>
              <a:rPr lang="en-US" sz="2800" dirty="0" err="1">
                <a:latin typeface="Montserrat" panose="00000500000000000000" pitchFamily="2" charset="0"/>
              </a:rPr>
              <a:t>XGBoost</a:t>
            </a:r>
            <a:r>
              <a:rPr lang="en-US" sz="2800" dirty="0">
                <a:latin typeface="Montserrat" panose="00000500000000000000" pitchFamily="2" charset="0"/>
              </a:rPr>
              <a:t> (with hyperparameter tuning) is the best model for predicting Sales Price in this case, as it has the lowest Mean Squared Error (MSE) and highest R-squared on the testing data.</a:t>
            </a:r>
          </a:p>
          <a:p>
            <a:br>
              <a:rPr lang="en-US" sz="2800" dirty="0">
                <a:latin typeface="Montserrat" panose="00000500000000000000" pitchFamily="2" charset="0"/>
              </a:rPr>
            </a:br>
            <a:r>
              <a:rPr lang="en-US" sz="2800" dirty="0">
                <a:latin typeface="Montserrat" panose="00000500000000000000" pitchFamily="2" charset="0"/>
              </a:rPr>
              <a:t>However, if there's high importance in a model that easy to implement, Linear Regression can be considered as alternative.</a:t>
            </a:r>
          </a:p>
          <a:p>
            <a:br>
              <a:rPr lang="en-US" sz="2800" dirty="0">
                <a:latin typeface="Montserrat" panose="00000500000000000000" pitchFamily="2" charset="0"/>
              </a:rPr>
            </a:br>
            <a:endParaRPr lang="en-US" sz="2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82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68629"/>
            <a:ext cx="340256" cy="340256"/>
          </a:xfrm>
          <a:custGeom>
            <a:avLst/>
            <a:gdLst/>
            <a:ahLst/>
            <a:cxnLst/>
            <a:rect l="l" t="t" r="r" b="b"/>
            <a:pathLst>
              <a:path w="340256" h="340256">
                <a:moveTo>
                  <a:pt x="0" y="0"/>
                </a:moveTo>
                <a:lnTo>
                  <a:pt x="340256" y="0"/>
                </a:lnTo>
                <a:lnTo>
                  <a:pt x="340256" y="340256"/>
                </a:lnTo>
                <a:lnTo>
                  <a:pt x="0" y="340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6647009"/>
            <a:ext cx="1258907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Don’t hesitate to contact us for further inquiries or any collaborations.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745163"/>
            <a:ext cx="7655689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762533"/>
            <a:ext cx="232998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Full Name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1454" y="8249844"/>
            <a:ext cx="185723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Dani Rahardjo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529AF2-0EE5-435A-82AB-09F034256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144" y="720263"/>
            <a:ext cx="11935711" cy="47936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868</Words>
  <Application>Microsoft Office PowerPoint</Application>
  <PresentationFormat>Custom</PresentationFormat>
  <Paragraphs>212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Calibri</vt:lpstr>
      <vt:lpstr>Montserrat Bold</vt:lpstr>
      <vt:lpstr>Montserrat Classic</vt:lpstr>
      <vt:lpstr>Montserrat Classic Bold</vt:lpstr>
      <vt:lpstr>Montserrat</vt:lpstr>
      <vt:lpstr>Arial</vt:lpstr>
      <vt:lpstr>Office Theme</vt:lpstr>
      <vt:lpstr>Packager Shell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Imam Suandi_Churn Customer _Final Project Presentation </dc:title>
  <cp:lastModifiedBy>dani rahardjo</cp:lastModifiedBy>
  <cp:revision>74</cp:revision>
  <dcterms:created xsi:type="dcterms:W3CDTF">2006-08-16T00:00:00Z</dcterms:created>
  <dcterms:modified xsi:type="dcterms:W3CDTF">2025-03-27T13:48:10Z</dcterms:modified>
  <dc:identifier>DAGQP4JL8OU</dc:identifier>
</cp:coreProperties>
</file>